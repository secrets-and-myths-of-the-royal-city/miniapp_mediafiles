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istotelica Pro" panose="020B0604020202020204" charset="0"/>
      <p:regular r:id="rId15"/>
    </p:embeddedFont>
    <p:embeddedFont>
      <p:font typeface="Heading Now 71-78" panose="020B0604020202020204" charset="0"/>
      <p:regular r:id="rId16"/>
    </p:embeddedFont>
    <p:embeddedFont>
      <p:font typeface="Proxima Nova Bold" panose="020B0604020202020204" charset="0"/>
      <p:regular r:id="rId17"/>
    </p:embeddedFont>
    <p:embeddedFont>
      <p:font typeface="TT Firs Neue" panose="020B0604020202020204" charset="-52"/>
      <p:regular r:id="rId18"/>
    </p:embeddedFont>
    <p:embeddedFont>
      <p:font typeface="TT Firs Neue Bold" panose="020B0604020202020204" charset="-52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7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sv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41.png"/><Relationship Id="rId3" Type="http://schemas.openxmlformats.org/officeDocument/2006/relationships/image" Target="../media/image35.svg"/><Relationship Id="rId7" Type="http://schemas.openxmlformats.org/officeDocument/2006/relationships/image" Target="../media/image14.svg"/><Relationship Id="rId12" Type="http://schemas.openxmlformats.org/officeDocument/2006/relationships/image" Target="../media/image40.svg"/><Relationship Id="rId2" Type="http://schemas.openxmlformats.org/officeDocument/2006/relationships/image" Target="../media/image34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39.png"/><Relationship Id="rId5" Type="http://schemas.openxmlformats.org/officeDocument/2006/relationships/image" Target="../media/image37.sv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6.png"/><Relationship Id="rId9" Type="http://schemas.openxmlformats.org/officeDocument/2006/relationships/image" Target="../media/image12.svg"/><Relationship Id="rId14" Type="http://schemas.openxmlformats.org/officeDocument/2006/relationships/image" Target="../media/image4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12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2173">
            <a:off x="7045959" y="-1644619"/>
            <a:ext cx="14656926" cy="14390437"/>
          </a:xfrm>
          <a:custGeom>
            <a:avLst/>
            <a:gdLst/>
            <a:ahLst/>
            <a:cxnLst/>
            <a:rect l="l" t="t" r="r" b="b"/>
            <a:pathLst>
              <a:path w="14656926" h="14390437">
                <a:moveTo>
                  <a:pt x="0" y="0"/>
                </a:moveTo>
                <a:lnTo>
                  <a:pt x="14656927" y="0"/>
                </a:lnTo>
                <a:lnTo>
                  <a:pt x="14656927" y="14390437"/>
                </a:lnTo>
                <a:lnTo>
                  <a:pt x="0" y="1439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34372" y="8267637"/>
            <a:ext cx="5173565" cy="990663"/>
          </a:xfrm>
          <a:custGeom>
            <a:avLst/>
            <a:gdLst/>
            <a:ahLst/>
            <a:cxnLst/>
            <a:rect l="l" t="t" r="r" b="b"/>
            <a:pathLst>
              <a:path w="5173565" h="990663">
                <a:moveTo>
                  <a:pt x="0" y="0"/>
                </a:moveTo>
                <a:lnTo>
                  <a:pt x="5173565" y="0"/>
                </a:lnTo>
                <a:lnTo>
                  <a:pt x="5173565" y="990663"/>
                </a:lnTo>
                <a:lnTo>
                  <a:pt x="0" y="9906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t="-349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3002" y="3515031"/>
            <a:ext cx="7650943" cy="336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6"/>
              </a:lnSpc>
            </a:pPr>
            <a:r>
              <a:rPr lang="en-US" sz="5286" b="1" spc="-132">
                <a:solidFill>
                  <a:srgbClr val="C0A0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ОБРАЗОВАТЕЛЬНО-КРАЕВЕДЧЕСКИЙ ПРОЕКТ “ТАЙНЫ И МИФЫ КОРОЛЕВСКОГО ГОРОДА”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2335944">
            <a:off x="8227213" y="402228"/>
            <a:ext cx="10822808" cy="8280951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248871" y="295621"/>
            <a:ext cx="1728609" cy="1296457"/>
          </a:xfrm>
          <a:custGeom>
            <a:avLst/>
            <a:gdLst/>
            <a:ahLst/>
            <a:cxnLst/>
            <a:rect l="l" t="t" r="r" b="b"/>
            <a:pathLst>
              <a:path w="1728609" h="1296457">
                <a:moveTo>
                  <a:pt x="0" y="0"/>
                </a:moveTo>
                <a:lnTo>
                  <a:pt x="1728609" y="0"/>
                </a:lnTo>
                <a:lnTo>
                  <a:pt x="1728609" y="1296457"/>
                </a:lnTo>
                <a:lnTo>
                  <a:pt x="0" y="12964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39940" y="609148"/>
            <a:ext cx="3818413" cy="78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214">
                <a:solidFill>
                  <a:srgbClr val="93A6D5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ГУО “Средняя школа №27  имени В.В.Юртова г.Гродно”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4960" y="8229537"/>
            <a:ext cx="3074187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0A0FF"/>
                </a:solidFill>
                <a:latin typeface="TT Firs Neue"/>
                <a:ea typeface="TT Firs Neue"/>
                <a:cs typeface="TT Firs Neue"/>
                <a:sym typeface="TT Firs Neue"/>
              </a:rPr>
              <a:t>Автор: Ракович Артём, ученик 10 класса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9574" y="8229537"/>
            <a:ext cx="3524371" cy="73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C0A0FF"/>
                </a:solidFill>
                <a:latin typeface="TT Firs Neue"/>
                <a:ea typeface="TT Firs Neue"/>
                <a:cs typeface="TT Firs Neue"/>
                <a:sym typeface="TT Firs Neue"/>
              </a:rPr>
              <a:t>Руководитель</a:t>
            </a:r>
            <a:r>
              <a:rPr lang="en-US" sz="2100" dirty="0">
                <a:solidFill>
                  <a:srgbClr val="C0A0FF"/>
                </a:solidFill>
                <a:latin typeface="TT Firs Neue"/>
                <a:ea typeface="TT Firs Neue"/>
                <a:cs typeface="TT Firs Neue"/>
                <a:sym typeface="TT Firs Neue"/>
              </a:rPr>
              <a:t>:</a:t>
            </a:r>
            <a:r>
              <a:rPr lang="ru-RU" sz="2100" dirty="0">
                <a:solidFill>
                  <a:srgbClr val="C0A0FF"/>
                </a:solidFill>
                <a:latin typeface="TT Firs Neue"/>
                <a:ea typeface="TT Firs Neue"/>
                <a:cs typeface="TT Firs Neue"/>
                <a:sym typeface="TT Firs Neue"/>
              </a:rPr>
              <a:t> Василенко Д.В., учитель истории</a:t>
            </a:r>
            <a:endParaRPr lang="en-US" sz="2100" dirty="0">
              <a:solidFill>
                <a:srgbClr val="C0A0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134542">
            <a:off x="14526426" y="8304694"/>
            <a:ext cx="2319978" cy="2350237"/>
            <a:chOff x="0" y="0"/>
            <a:chExt cx="611023" cy="6189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1023" cy="618993"/>
            </a:xfrm>
            <a:custGeom>
              <a:avLst/>
              <a:gdLst/>
              <a:ahLst/>
              <a:cxnLst/>
              <a:rect l="l" t="t" r="r" b="b"/>
              <a:pathLst>
                <a:path w="611023" h="618993">
                  <a:moveTo>
                    <a:pt x="170190" y="0"/>
                  </a:moveTo>
                  <a:lnTo>
                    <a:pt x="440833" y="0"/>
                  </a:lnTo>
                  <a:cubicBezTo>
                    <a:pt x="485970" y="0"/>
                    <a:pt x="529258" y="17931"/>
                    <a:pt x="561175" y="49848"/>
                  </a:cubicBezTo>
                  <a:cubicBezTo>
                    <a:pt x="593092" y="81764"/>
                    <a:pt x="611023" y="125053"/>
                    <a:pt x="611023" y="170190"/>
                  </a:cubicBezTo>
                  <a:lnTo>
                    <a:pt x="611023" y="448802"/>
                  </a:lnTo>
                  <a:cubicBezTo>
                    <a:pt x="611023" y="542796"/>
                    <a:pt x="534826" y="618993"/>
                    <a:pt x="440833" y="618993"/>
                  </a:cubicBezTo>
                  <a:lnTo>
                    <a:pt x="170190" y="618993"/>
                  </a:lnTo>
                  <a:cubicBezTo>
                    <a:pt x="125053" y="618993"/>
                    <a:pt x="81764" y="601062"/>
                    <a:pt x="49848" y="569145"/>
                  </a:cubicBezTo>
                  <a:cubicBezTo>
                    <a:pt x="17931" y="537228"/>
                    <a:pt x="0" y="493940"/>
                    <a:pt x="0" y="448802"/>
                  </a:cubicBezTo>
                  <a:lnTo>
                    <a:pt x="0" y="170190"/>
                  </a:lnTo>
                  <a:cubicBezTo>
                    <a:pt x="0" y="76197"/>
                    <a:pt x="76197" y="0"/>
                    <a:pt x="170190" y="0"/>
                  </a:cubicBezTo>
                  <a:close/>
                </a:path>
              </a:pathLst>
            </a:custGeom>
            <a:solidFill>
              <a:srgbClr val="BDA0F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11023" cy="65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1028696">
            <a:off x="16149960" y="6924513"/>
            <a:ext cx="2218679" cy="2278913"/>
            <a:chOff x="0" y="0"/>
            <a:chExt cx="584343" cy="6002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4343" cy="600207"/>
            </a:xfrm>
            <a:custGeom>
              <a:avLst/>
              <a:gdLst/>
              <a:ahLst/>
              <a:cxnLst/>
              <a:rect l="l" t="t" r="r" b="b"/>
              <a:pathLst>
                <a:path w="584343" h="600207">
                  <a:moveTo>
                    <a:pt x="177961" y="0"/>
                  </a:moveTo>
                  <a:lnTo>
                    <a:pt x="406383" y="0"/>
                  </a:lnTo>
                  <a:cubicBezTo>
                    <a:pt x="504668" y="0"/>
                    <a:pt x="584343" y="79676"/>
                    <a:pt x="584343" y="177961"/>
                  </a:cubicBezTo>
                  <a:lnTo>
                    <a:pt x="584343" y="422247"/>
                  </a:lnTo>
                  <a:cubicBezTo>
                    <a:pt x="584343" y="520532"/>
                    <a:pt x="504668" y="600207"/>
                    <a:pt x="406383" y="600207"/>
                  </a:cubicBezTo>
                  <a:lnTo>
                    <a:pt x="177961" y="600207"/>
                  </a:lnTo>
                  <a:cubicBezTo>
                    <a:pt x="79676" y="600207"/>
                    <a:pt x="0" y="520532"/>
                    <a:pt x="0" y="422247"/>
                  </a:cubicBezTo>
                  <a:lnTo>
                    <a:pt x="0" y="177961"/>
                  </a:lnTo>
                  <a:cubicBezTo>
                    <a:pt x="0" y="79676"/>
                    <a:pt x="79676" y="0"/>
                    <a:pt x="177961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84343" cy="638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7990580">
            <a:off x="16064784" y="8292851"/>
            <a:ext cx="3086100" cy="2373923"/>
            <a:chOff x="0" y="0"/>
            <a:chExt cx="660400" cy="508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solidFill>
              <a:srgbClr val="AC8AE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16319" y="2833268"/>
            <a:ext cx="13455363" cy="664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D9D9D9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Объект исследования</a:t>
            </a:r>
            <a:r>
              <a:rPr lang="en-US" sz="2700">
                <a:solidFill>
                  <a:srgbClr val="D9D9D9"/>
                </a:solidFill>
                <a:latin typeface="TT Firs Neue"/>
                <a:ea typeface="TT Firs Neue"/>
                <a:cs typeface="TT Firs Neue"/>
                <a:sym typeface="TT Firs Neue"/>
              </a:rPr>
              <a:t>: городские легенды Гродно как элемент культурного наследия.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D9D9D9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D9D9D9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Предмет исследования</a:t>
            </a:r>
            <a:r>
              <a:rPr lang="en-US" sz="2700">
                <a:solidFill>
                  <a:srgbClr val="D9D9D9"/>
                </a:solidFill>
                <a:latin typeface="TT Firs Neue"/>
                <a:ea typeface="TT Firs Neue"/>
                <a:cs typeface="TT Firs Neue"/>
                <a:sym typeface="TT Firs Neue"/>
              </a:rPr>
              <a:t>: процесс создания веб-приложения «Тайны и мифы Королевского города». 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D9D9D9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D9D9D9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Цель исследования</a:t>
            </a:r>
            <a:r>
              <a:rPr lang="en-US" sz="2700">
                <a:solidFill>
                  <a:srgbClr val="D9D9D9"/>
                </a:solidFill>
                <a:latin typeface="TT Firs Neue"/>
                <a:ea typeface="TT Firs Neue"/>
                <a:cs typeface="TT Firs Neue"/>
                <a:sym typeface="TT Firs Neue"/>
              </a:rPr>
              <a:t>: теоретически обосновать и разработать структуру интерактивного веб-приложения для презентации мифов и легенд Гродно. 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D9D9D9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just">
              <a:lnSpc>
                <a:spcPts val="3779"/>
              </a:lnSpc>
            </a:pPr>
            <a:r>
              <a:rPr lang="en-US" sz="2700" b="1">
                <a:solidFill>
                  <a:srgbClr val="D9D9D9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Методы исследования</a:t>
            </a:r>
            <a:r>
              <a:rPr lang="en-US" sz="2700">
                <a:solidFill>
                  <a:srgbClr val="D9D9D9"/>
                </a:solidFill>
                <a:latin typeface="TT Firs Neue"/>
                <a:ea typeface="TT Firs Neue"/>
                <a:cs typeface="TT Firs Neue"/>
                <a:sym typeface="TT Firs Neue"/>
              </a:rPr>
              <a:t>: анализ литературы, историко-культурный анализ легенд, сравнительный анализ технологий, проектирование, тестирование прототипа. </a:t>
            </a:r>
          </a:p>
          <a:p>
            <a:pPr algn="just">
              <a:lnSpc>
                <a:spcPts val="3779"/>
              </a:lnSpc>
            </a:pPr>
            <a:endParaRPr lang="en-US" sz="2700">
              <a:solidFill>
                <a:srgbClr val="D9D9D9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0" lvl="0" indent="0" algn="just">
              <a:lnSpc>
                <a:spcPts val="3779"/>
              </a:lnSpc>
              <a:spcBef>
                <a:spcPct val="0"/>
              </a:spcBef>
            </a:pPr>
            <a:endParaRPr lang="en-US" sz="2700">
              <a:solidFill>
                <a:srgbClr val="D9D9D9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608357" y="1143000"/>
            <a:ext cx="7650943" cy="81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6"/>
              </a:lnSpc>
            </a:pPr>
            <a:r>
              <a:rPr lang="en-US" sz="6086" b="1" spc="-152">
                <a:solidFill>
                  <a:srgbClr val="D9D9D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ВВЕДЕНИЕ</a:t>
            </a:r>
          </a:p>
        </p:txBody>
      </p:sp>
      <p:grpSp>
        <p:nvGrpSpPr>
          <p:cNvPr id="13" name="Group 13"/>
          <p:cNvGrpSpPr/>
          <p:nvPr/>
        </p:nvGrpSpPr>
        <p:grpSpPr>
          <a:xfrm rot="9665457">
            <a:off x="1051027" y="-1324146"/>
            <a:ext cx="2319978" cy="2350237"/>
            <a:chOff x="0" y="0"/>
            <a:chExt cx="611023" cy="61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1023" cy="618993"/>
            </a:xfrm>
            <a:custGeom>
              <a:avLst/>
              <a:gdLst/>
              <a:ahLst/>
              <a:cxnLst/>
              <a:rect l="l" t="t" r="r" b="b"/>
              <a:pathLst>
                <a:path w="611023" h="618993">
                  <a:moveTo>
                    <a:pt x="170190" y="0"/>
                  </a:moveTo>
                  <a:lnTo>
                    <a:pt x="440833" y="0"/>
                  </a:lnTo>
                  <a:cubicBezTo>
                    <a:pt x="485970" y="0"/>
                    <a:pt x="529258" y="17931"/>
                    <a:pt x="561175" y="49848"/>
                  </a:cubicBezTo>
                  <a:cubicBezTo>
                    <a:pt x="593092" y="81764"/>
                    <a:pt x="611023" y="125053"/>
                    <a:pt x="611023" y="170190"/>
                  </a:cubicBezTo>
                  <a:lnTo>
                    <a:pt x="611023" y="448802"/>
                  </a:lnTo>
                  <a:cubicBezTo>
                    <a:pt x="611023" y="542796"/>
                    <a:pt x="534826" y="618993"/>
                    <a:pt x="440833" y="618993"/>
                  </a:cubicBezTo>
                  <a:lnTo>
                    <a:pt x="170190" y="618993"/>
                  </a:lnTo>
                  <a:cubicBezTo>
                    <a:pt x="125053" y="618993"/>
                    <a:pt x="81764" y="601062"/>
                    <a:pt x="49848" y="569145"/>
                  </a:cubicBezTo>
                  <a:cubicBezTo>
                    <a:pt x="17931" y="537228"/>
                    <a:pt x="0" y="493940"/>
                    <a:pt x="0" y="448802"/>
                  </a:cubicBezTo>
                  <a:lnTo>
                    <a:pt x="0" y="170190"/>
                  </a:lnTo>
                  <a:cubicBezTo>
                    <a:pt x="0" y="76197"/>
                    <a:pt x="76197" y="0"/>
                    <a:pt x="170190" y="0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11023" cy="65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9771303">
            <a:off x="-471209" y="127360"/>
            <a:ext cx="2218679" cy="2278913"/>
            <a:chOff x="0" y="0"/>
            <a:chExt cx="584343" cy="60020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4343" cy="600207"/>
            </a:xfrm>
            <a:custGeom>
              <a:avLst/>
              <a:gdLst/>
              <a:ahLst/>
              <a:cxnLst/>
              <a:rect l="l" t="t" r="r" b="b"/>
              <a:pathLst>
                <a:path w="584343" h="600207">
                  <a:moveTo>
                    <a:pt x="177961" y="0"/>
                  </a:moveTo>
                  <a:lnTo>
                    <a:pt x="406383" y="0"/>
                  </a:lnTo>
                  <a:cubicBezTo>
                    <a:pt x="504668" y="0"/>
                    <a:pt x="584343" y="79676"/>
                    <a:pt x="584343" y="177961"/>
                  </a:cubicBezTo>
                  <a:lnTo>
                    <a:pt x="584343" y="422247"/>
                  </a:lnTo>
                  <a:cubicBezTo>
                    <a:pt x="584343" y="520532"/>
                    <a:pt x="504668" y="600207"/>
                    <a:pt x="406383" y="600207"/>
                  </a:cubicBezTo>
                  <a:lnTo>
                    <a:pt x="177961" y="600207"/>
                  </a:lnTo>
                  <a:cubicBezTo>
                    <a:pt x="79676" y="600207"/>
                    <a:pt x="0" y="520532"/>
                    <a:pt x="0" y="422247"/>
                  </a:cubicBezTo>
                  <a:lnTo>
                    <a:pt x="0" y="177961"/>
                  </a:lnTo>
                  <a:cubicBezTo>
                    <a:pt x="0" y="79676"/>
                    <a:pt x="79676" y="0"/>
                    <a:pt x="177961" y="0"/>
                  </a:cubicBezTo>
                  <a:close/>
                </a:path>
              </a:pathLst>
            </a:custGeom>
            <a:solidFill>
              <a:srgbClr val="A4A4A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84343" cy="638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2809419">
            <a:off x="-1253453" y="-1335989"/>
            <a:ext cx="3086100" cy="2373923"/>
            <a:chOff x="0" y="0"/>
            <a:chExt cx="660400" cy="508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solidFill>
              <a:srgbClr val="7B7676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8131" y="918718"/>
            <a:ext cx="5486008" cy="1146085"/>
            <a:chOff x="0" y="0"/>
            <a:chExt cx="7314677" cy="152811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8113" cy="1528113"/>
            </a:xfrm>
            <a:custGeom>
              <a:avLst/>
              <a:gdLst/>
              <a:ahLst/>
              <a:cxnLst/>
              <a:rect l="l" t="t" r="r" b="b"/>
              <a:pathLst>
                <a:path w="1528113" h="1528113">
                  <a:moveTo>
                    <a:pt x="0" y="0"/>
                  </a:moveTo>
                  <a:lnTo>
                    <a:pt x="1528113" y="0"/>
                  </a:lnTo>
                  <a:lnTo>
                    <a:pt x="1528113" y="1528113"/>
                  </a:lnTo>
                  <a:lnTo>
                    <a:pt x="0" y="152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24" name="AutoShape 24"/>
            <p:cNvSpPr/>
            <p:nvPr/>
          </p:nvSpPr>
          <p:spPr>
            <a:xfrm flipV="1">
              <a:off x="1668582" y="0"/>
              <a:ext cx="0" cy="1528113"/>
            </a:xfrm>
            <a:prstGeom prst="line">
              <a:avLst/>
            </a:prstGeom>
            <a:ln w="50800" cap="flat">
              <a:solidFill>
                <a:srgbClr val="8B6BC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828235" y="302196"/>
              <a:ext cx="5486442" cy="461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0"/>
                </a:lnSpc>
              </a:pPr>
              <a:r>
                <a:rPr lang="en-US" sz="2200" spc="-121">
                  <a:solidFill>
                    <a:srgbClr val="C0A0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Тайны и мифы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28235" y="884343"/>
              <a:ext cx="5486442" cy="461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0"/>
                </a:lnSpc>
              </a:pPr>
              <a:r>
                <a:rPr lang="en-US" sz="2200" spc="-121">
                  <a:solidFill>
                    <a:srgbClr val="BFBFB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Королевского города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294043">
            <a:off x="-2810703" y="-747162"/>
            <a:ext cx="9336340" cy="12433382"/>
          </a:xfrm>
          <a:custGeom>
            <a:avLst/>
            <a:gdLst/>
            <a:ahLst/>
            <a:cxnLst/>
            <a:rect l="l" t="t" r="r" b="b"/>
            <a:pathLst>
              <a:path w="9336340" h="12433382">
                <a:moveTo>
                  <a:pt x="0" y="0"/>
                </a:moveTo>
                <a:lnTo>
                  <a:pt x="9336340" y="0"/>
                </a:lnTo>
                <a:lnTo>
                  <a:pt x="9336340" y="12433382"/>
                </a:lnTo>
                <a:lnTo>
                  <a:pt x="0" y="12433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57467" y="2465190"/>
            <a:ext cx="14915499" cy="6793110"/>
            <a:chOff x="0" y="0"/>
            <a:chExt cx="3928362" cy="17891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28362" cy="1789132"/>
            </a:xfrm>
            <a:custGeom>
              <a:avLst/>
              <a:gdLst/>
              <a:ahLst/>
              <a:cxnLst/>
              <a:rect l="l" t="t" r="r" b="b"/>
              <a:pathLst>
                <a:path w="3928362" h="1789132">
                  <a:moveTo>
                    <a:pt x="26472" y="0"/>
                  </a:moveTo>
                  <a:lnTo>
                    <a:pt x="3901890" y="0"/>
                  </a:lnTo>
                  <a:cubicBezTo>
                    <a:pt x="3908911" y="0"/>
                    <a:pt x="3915644" y="2789"/>
                    <a:pt x="3920608" y="7753"/>
                  </a:cubicBezTo>
                  <a:cubicBezTo>
                    <a:pt x="3925573" y="12718"/>
                    <a:pt x="3928362" y="19451"/>
                    <a:pt x="3928362" y="26472"/>
                  </a:cubicBezTo>
                  <a:lnTo>
                    <a:pt x="3928362" y="1762660"/>
                  </a:lnTo>
                  <a:cubicBezTo>
                    <a:pt x="3928362" y="1769681"/>
                    <a:pt x="3925573" y="1776414"/>
                    <a:pt x="3920608" y="1781378"/>
                  </a:cubicBezTo>
                  <a:cubicBezTo>
                    <a:pt x="3915644" y="1786343"/>
                    <a:pt x="3908911" y="1789132"/>
                    <a:pt x="3901890" y="1789132"/>
                  </a:cubicBezTo>
                  <a:lnTo>
                    <a:pt x="26472" y="1789132"/>
                  </a:lnTo>
                  <a:cubicBezTo>
                    <a:pt x="19451" y="1789132"/>
                    <a:pt x="12718" y="1786343"/>
                    <a:pt x="7753" y="1781378"/>
                  </a:cubicBezTo>
                  <a:cubicBezTo>
                    <a:pt x="2789" y="1776414"/>
                    <a:pt x="0" y="1769681"/>
                    <a:pt x="0" y="1762660"/>
                  </a:cubicBezTo>
                  <a:lnTo>
                    <a:pt x="0" y="26472"/>
                  </a:lnTo>
                  <a:cubicBezTo>
                    <a:pt x="0" y="19451"/>
                    <a:pt x="2789" y="12718"/>
                    <a:pt x="7753" y="7753"/>
                  </a:cubicBezTo>
                  <a:cubicBezTo>
                    <a:pt x="12718" y="2789"/>
                    <a:pt x="19451" y="0"/>
                    <a:pt x="26472" y="0"/>
                  </a:cubicBezTo>
                  <a:close/>
                </a:path>
              </a:pathLst>
            </a:custGeom>
            <a:solidFill>
              <a:srgbClr val="AC8AE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928362" cy="1836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51665" y="2248473"/>
            <a:ext cx="14829286" cy="6793110"/>
            <a:chOff x="0" y="0"/>
            <a:chExt cx="3905656" cy="17891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05656" cy="1789132"/>
            </a:xfrm>
            <a:custGeom>
              <a:avLst/>
              <a:gdLst/>
              <a:ahLst/>
              <a:cxnLst/>
              <a:rect l="l" t="t" r="r" b="b"/>
              <a:pathLst>
                <a:path w="3905656" h="1789132">
                  <a:moveTo>
                    <a:pt x="26626" y="0"/>
                  </a:moveTo>
                  <a:lnTo>
                    <a:pt x="3879030" y="0"/>
                  </a:lnTo>
                  <a:cubicBezTo>
                    <a:pt x="3893735" y="0"/>
                    <a:pt x="3905656" y="11921"/>
                    <a:pt x="3905656" y="26626"/>
                  </a:cubicBezTo>
                  <a:lnTo>
                    <a:pt x="3905656" y="1762506"/>
                  </a:lnTo>
                  <a:cubicBezTo>
                    <a:pt x="3905656" y="1769568"/>
                    <a:pt x="3902851" y="1776340"/>
                    <a:pt x="3897857" y="1781334"/>
                  </a:cubicBezTo>
                  <a:cubicBezTo>
                    <a:pt x="3892864" y="1786327"/>
                    <a:pt x="3886092" y="1789132"/>
                    <a:pt x="3879030" y="1789132"/>
                  </a:cubicBezTo>
                  <a:lnTo>
                    <a:pt x="26626" y="1789132"/>
                  </a:lnTo>
                  <a:cubicBezTo>
                    <a:pt x="19564" y="1789132"/>
                    <a:pt x="12792" y="1786327"/>
                    <a:pt x="7798" y="1781334"/>
                  </a:cubicBezTo>
                  <a:cubicBezTo>
                    <a:pt x="2805" y="1776340"/>
                    <a:pt x="0" y="1769568"/>
                    <a:pt x="0" y="1762506"/>
                  </a:cubicBezTo>
                  <a:lnTo>
                    <a:pt x="0" y="26626"/>
                  </a:lnTo>
                  <a:cubicBezTo>
                    <a:pt x="0" y="19564"/>
                    <a:pt x="2805" y="12792"/>
                    <a:pt x="7798" y="7798"/>
                  </a:cubicBezTo>
                  <a:cubicBezTo>
                    <a:pt x="12792" y="2805"/>
                    <a:pt x="19564" y="0"/>
                    <a:pt x="26626" y="0"/>
                  </a:cubicBezTo>
                  <a:close/>
                </a:path>
              </a:pathLst>
            </a:custGeom>
            <a:solidFill>
              <a:srgbClr val="C0A0FF"/>
            </a:solidFill>
            <a:ln w="85725" cap="rnd">
              <a:solidFill>
                <a:srgbClr val="C0A0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905656" cy="1836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857467" y="2967779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1" y="0"/>
                </a:lnTo>
                <a:lnTo>
                  <a:pt x="667151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857467" y="4966291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1" y="0"/>
                </a:lnTo>
                <a:lnTo>
                  <a:pt x="667151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857467" y="7108290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1" y="0"/>
                </a:lnTo>
                <a:lnTo>
                  <a:pt x="667151" y="667152"/>
                </a:lnTo>
                <a:lnTo>
                  <a:pt x="0" y="667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402615" y="-430591"/>
            <a:ext cx="1969006" cy="1355089"/>
          </a:xfrm>
          <a:custGeom>
            <a:avLst/>
            <a:gdLst/>
            <a:ahLst/>
            <a:cxnLst/>
            <a:rect l="l" t="t" r="r" b="b"/>
            <a:pathLst>
              <a:path w="1969006" h="1355089">
                <a:moveTo>
                  <a:pt x="0" y="0"/>
                </a:moveTo>
                <a:lnTo>
                  <a:pt x="1969006" y="0"/>
                </a:lnTo>
                <a:lnTo>
                  <a:pt x="1969006" y="1355089"/>
                </a:lnTo>
                <a:lnTo>
                  <a:pt x="0" y="1355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7255" r="-17320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900699" y="2920154"/>
            <a:ext cx="5258798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1.    Изучить концепцию легендарного туризма и мировые практики.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900699" y="4918666"/>
            <a:ext cx="525879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2.    Провести сбор и анализ городских легенд Гродно.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900699" y="6914304"/>
            <a:ext cx="5258798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3.    Определить оптимальную техническую платформу для создания приложения.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280488" y="307005"/>
            <a:ext cx="1146085" cy="1146085"/>
          </a:xfrm>
          <a:custGeom>
            <a:avLst/>
            <a:gdLst/>
            <a:ahLst/>
            <a:cxnLst/>
            <a:rect l="l" t="t" r="r" b="b"/>
            <a:pathLst>
              <a:path w="1146085" h="1146085">
                <a:moveTo>
                  <a:pt x="0" y="0"/>
                </a:moveTo>
                <a:lnTo>
                  <a:pt x="1146085" y="0"/>
                </a:lnTo>
                <a:lnTo>
                  <a:pt x="1146085" y="1146085"/>
                </a:lnTo>
                <a:lnTo>
                  <a:pt x="0" y="11460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 flipV="1">
            <a:off x="1531925" y="307005"/>
            <a:ext cx="0" cy="1146085"/>
          </a:xfrm>
          <a:prstGeom prst="line">
            <a:avLst/>
          </a:prstGeom>
          <a:ln w="38100" cap="flat">
            <a:solidFill>
              <a:srgbClr val="8B6BC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1651665" y="528889"/>
            <a:ext cx="4114831" cy="351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121">
                <a:solidFill>
                  <a:srgbClr val="5E17EB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Тайны и мифы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1665" y="965499"/>
            <a:ext cx="4114831" cy="351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121">
                <a:solidFill>
                  <a:srgbClr val="15141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Королевского города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50085" y="2920154"/>
            <a:ext cx="525879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4.    Разработать структуру и интерфейс приложения.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450085" y="5088328"/>
            <a:ext cx="525879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5.    Создать работающий прототип.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450085" y="7060665"/>
            <a:ext cx="525879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6.    Определить стратегию развития проекта.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9371621" y="7108290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1" y="0"/>
                </a:lnTo>
                <a:lnTo>
                  <a:pt x="667151" y="667152"/>
                </a:lnTo>
                <a:lnTo>
                  <a:pt x="0" y="667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371621" y="4966291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1" y="0"/>
                </a:lnTo>
                <a:lnTo>
                  <a:pt x="667151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371621" y="2967779"/>
            <a:ext cx="667151" cy="667151"/>
          </a:xfrm>
          <a:custGeom>
            <a:avLst/>
            <a:gdLst/>
            <a:ahLst/>
            <a:cxnLst/>
            <a:rect l="l" t="t" r="r" b="b"/>
            <a:pathLst>
              <a:path w="667151" h="667151">
                <a:moveTo>
                  <a:pt x="0" y="0"/>
                </a:moveTo>
                <a:lnTo>
                  <a:pt x="667151" y="0"/>
                </a:lnTo>
                <a:lnTo>
                  <a:pt x="667151" y="667151"/>
                </a:lnTo>
                <a:lnTo>
                  <a:pt x="0" y="667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705196" y="1089324"/>
            <a:ext cx="7650943" cy="69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6"/>
              </a:lnSpc>
            </a:pPr>
            <a:r>
              <a:rPr lang="en-US" sz="5286" b="1" spc="-132">
                <a:solidFill>
                  <a:srgbClr val="D9D9D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Задачи иследования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21180">
            <a:off x="16274797" y="-241780"/>
            <a:ext cx="1969006" cy="1355089"/>
          </a:xfrm>
          <a:custGeom>
            <a:avLst/>
            <a:gdLst/>
            <a:ahLst/>
            <a:cxnLst/>
            <a:rect l="l" t="t" r="r" b="b"/>
            <a:pathLst>
              <a:path w="1969006" h="1355089">
                <a:moveTo>
                  <a:pt x="0" y="0"/>
                </a:moveTo>
                <a:lnTo>
                  <a:pt x="1969006" y="0"/>
                </a:lnTo>
                <a:lnTo>
                  <a:pt x="1969006" y="1355089"/>
                </a:lnTo>
                <a:lnTo>
                  <a:pt x="0" y="1355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7255" r="-17320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4742" y="3550092"/>
            <a:ext cx="8719258" cy="4895530"/>
            <a:chOff x="0" y="0"/>
            <a:chExt cx="10752259" cy="6036982"/>
          </a:xfrm>
        </p:grpSpPr>
        <p:sp>
          <p:nvSpPr>
            <p:cNvPr id="4" name="Freeform 4"/>
            <p:cNvSpPr/>
            <p:nvPr/>
          </p:nvSpPr>
          <p:spPr>
            <a:xfrm>
              <a:off x="-45697" y="52698"/>
              <a:ext cx="10842137" cy="5928238"/>
            </a:xfrm>
            <a:custGeom>
              <a:avLst/>
              <a:gdLst/>
              <a:ahLst/>
              <a:cxnLst/>
              <a:rect l="l" t="t" r="r" b="b"/>
              <a:pathLst>
                <a:path w="10842137" h="5928238">
                  <a:moveTo>
                    <a:pt x="269106" y="979436"/>
                  </a:moveTo>
                  <a:cubicBezTo>
                    <a:pt x="1249686" y="-1351908"/>
                    <a:pt x="5078458" y="1817151"/>
                    <a:pt x="6599402" y="600606"/>
                  </a:cubicBezTo>
                  <a:cubicBezTo>
                    <a:pt x="8782871" y="-1022978"/>
                    <a:pt x="11780937" y="786447"/>
                    <a:pt x="10559139" y="4328867"/>
                  </a:cubicBezTo>
                  <a:cubicBezTo>
                    <a:pt x="10003367" y="6117634"/>
                    <a:pt x="7476532" y="4701979"/>
                    <a:pt x="6317665" y="5423901"/>
                  </a:cubicBezTo>
                  <a:cubicBezTo>
                    <a:pt x="3317597" y="7143794"/>
                    <a:pt x="-1143023" y="4167328"/>
                    <a:pt x="269107" y="979436"/>
                  </a:cubicBezTo>
                  <a:close/>
                </a:path>
              </a:pathLst>
            </a:custGeom>
            <a:blipFill>
              <a:blip r:embed="rId4"/>
              <a:stretch>
                <a:fillRect t="-3335" r="-2767" b="-2188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9802487" y="1133475"/>
            <a:ext cx="7201006" cy="1509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00"/>
              </a:lnSpc>
            </a:pPr>
            <a:r>
              <a:rPr lang="en-US" sz="5800" b="1" spc="-319">
                <a:solidFill>
                  <a:srgbClr val="D9D9D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Понятие легендарного туризма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02487" y="3623514"/>
            <a:ext cx="7456813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BDA0F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Легендарный туризм</a:t>
            </a:r>
            <a:r>
              <a:rPr lang="en-US" sz="2899">
                <a:solidFill>
                  <a:srgbClr val="BDA0F6"/>
                </a:solidFill>
                <a:latin typeface="TT Firs Neue"/>
                <a:ea typeface="TT Firs Neue"/>
                <a:cs typeface="TT Firs Neue"/>
                <a:sym typeface="TT Firs Neue"/>
              </a:rPr>
              <a:t> - вид туризма, мотивацией которого выступает интерес к мифам, легендам, преданиям и фольклору конкретной местности.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02487" y="6900453"/>
            <a:ext cx="7456813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BDA0F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Функции: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02487" y="7625411"/>
            <a:ext cx="7456813" cy="2040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BDA0F6"/>
                </a:solidFill>
                <a:latin typeface="TT Firs Neue"/>
                <a:ea typeface="TT Firs Neue"/>
                <a:cs typeface="TT Firs Neue"/>
                <a:sym typeface="TT Firs Neue"/>
              </a:rPr>
              <a:t>Аттрактивная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BDA0F6"/>
                </a:solidFill>
                <a:latin typeface="TT Firs Neue"/>
                <a:ea typeface="TT Firs Neue"/>
                <a:cs typeface="TT Firs Neue"/>
                <a:sym typeface="TT Firs Neue"/>
              </a:rPr>
              <a:t>Эмоциональная и познавательная 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BDA0F6"/>
                </a:solidFill>
                <a:latin typeface="TT Firs Neue"/>
                <a:ea typeface="TT Firs Neue"/>
                <a:cs typeface="TT Firs Neue"/>
                <a:sym typeface="TT Firs Neue"/>
              </a:rPr>
              <a:t>Маркетинговая и брендообразующая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BDA0F6"/>
                </a:solidFill>
                <a:latin typeface="TT Firs Neue"/>
                <a:ea typeface="TT Firs Neue"/>
                <a:cs typeface="TT Firs Neue"/>
                <a:sym typeface="TT Firs Neue"/>
              </a:rPr>
              <a:t>Социально-экономическая</a:t>
            </a:r>
          </a:p>
        </p:txBody>
      </p:sp>
      <p:grpSp>
        <p:nvGrpSpPr>
          <p:cNvPr id="9" name="Group 9"/>
          <p:cNvGrpSpPr/>
          <p:nvPr/>
        </p:nvGrpSpPr>
        <p:grpSpPr>
          <a:xfrm rot="4265457">
            <a:off x="-578410" y="7270503"/>
            <a:ext cx="2319978" cy="2350237"/>
            <a:chOff x="0" y="0"/>
            <a:chExt cx="611023" cy="6189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1023" cy="618993"/>
            </a:xfrm>
            <a:custGeom>
              <a:avLst/>
              <a:gdLst/>
              <a:ahLst/>
              <a:cxnLst/>
              <a:rect l="l" t="t" r="r" b="b"/>
              <a:pathLst>
                <a:path w="611023" h="618993">
                  <a:moveTo>
                    <a:pt x="170190" y="0"/>
                  </a:moveTo>
                  <a:lnTo>
                    <a:pt x="440833" y="0"/>
                  </a:lnTo>
                  <a:cubicBezTo>
                    <a:pt x="485970" y="0"/>
                    <a:pt x="529258" y="17931"/>
                    <a:pt x="561175" y="49848"/>
                  </a:cubicBezTo>
                  <a:cubicBezTo>
                    <a:pt x="593092" y="81764"/>
                    <a:pt x="611023" y="125053"/>
                    <a:pt x="611023" y="170190"/>
                  </a:cubicBezTo>
                  <a:lnTo>
                    <a:pt x="611023" y="448802"/>
                  </a:lnTo>
                  <a:cubicBezTo>
                    <a:pt x="611023" y="542796"/>
                    <a:pt x="534826" y="618993"/>
                    <a:pt x="440833" y="618993"/>
                  </a:cubicBezTo>
                  <a:lnTo>
                    <a:pt x="170190" y="618993"/>
                  </a:lnTo>
                  <a:cubicBezTo>
                    <a:pt x="125053" y="618993"/>
                    <a:pt x="81764" y="601062"/>
                    <a:pt x="49848" y="569145"/>
                  </a:cubicBezTo>
                  <a:cubicBezTo>
                    <a:pt x="17931" y="537228"/>
                    <a:pt x="0" y="493940"/>
                    <a:pt x="0" y="448802"/>
                  </a:cubicBezTo>
                  <a:lnTo>
                    <a:pt x="0" y="170190"/>
                  </a:lnTo>
                  <a:cubicBezTo>
                    <a:pt x="0" y="76197"/>
                    <a:pt x="76197" y="0"/>
                    <a:pt x="170190" y="0"/>
                  </a:cubicBezTo>
                  <a:close/>
                </a:path>
              </a:pathLst>
            </a:custGeom>
            <a:solidFill>
              <a:srgbClr val="BDA0F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11023" cy="65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6428696">
            <a:off x="888083" y="8879050"/>
            <a:ext cx="2218679" cy="2278913"/>
            <a:chOff x="0" y="0"/>
            <a:chExt cx="584343" cy="6002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4343" cy="600207"/>
            </a:xfrm>
            <a:custGeom>
              <a:avLst/>
              <a:gdLst/>
              <a:ahLst/>
              <a:cxnLst/>
              <a:rect l="l" t="t" r="r" b="b"/>
              <a:pathLst>
                <a:path w="584343" h="600207">
                  <a:moveTo>
                    <a:pt x="177961" y="0"/>
                  </a:moveTo>
                  <a:lnTo>
                    <a:pt x="406383" y="0"/>
                  </a:lnTo>
                  <a:cubicBezTo>
                    <a:pt x="504668" y="0"/>
                    <a:pt x="584343" y="79676"/>
                    <a:pt x="584343" y="177961"/>
                  </a:cubicBezTo>
                  <a:lnTo>
                    <a:pt x="584343" y="422247"/>
                  </a:lnTo>
                  <a:cubicBezTo>
                    <a:pt x="584343" y="520532"/>
                    <a:pt x="504668" y="600207"/>
                    <a:pt x="406383" y="600207"/>
                  </a:cubicBezTo>
                  <a:lnTo>
                    <a:pt x="177961" y="600207"/>
                  </a:lnTo>
                  <a:cubicBezTo>
                    <a:pt x="79676" y="600207"/>
                    <a:pt x="0" y="520532"/>
                    <a:pt x="0" y="422247"/>
                  </a:cubicBezTo>
                  <a:lnTo>
                    <a:pt x="0" y="177961"/>
                  </a:lnTo>
                  <a:cubicBezTo>
                    <a:pt x="0" y="79676"/>
                    <a:pt x="79676" y="0"/>
                    <a:pt x="177961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84343" cy="638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8209419">
            <a:off x="-961471" y="9180079"/>
            <a:ext cx="3086100" cy="2373923"/>
            <a:chOff x="0" y="0"/>
            <a:chExt cx="660400" cy="508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solidFill>
              <a:srgbClr val="AC8AE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1579" y="455658"/>
            <a:ext cx="5198242" cy="1085967"/>
            <a:chOff x="0" y="0"/>
            <a:chExt cx="6930989" cy="14479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47956" cy="1447956"/>
            </a:xfrm>
            <a:custGeom>
              <a:avLst/>
              <a:gdLst/>
              <a:ahLst/>
              <a:cxnLst/>
              <a:rect l="l" t="t" r="r" b="b"/>
              <a:pathLst>
                <a:path w="1447956" h="1447956">
                  <a:moveTo>
                    <a:pt x="0" y="0"/>
                  </a:moveTo>
                  <a:lnTo>
                    <a:pt x="1447956" y="0"/>
                  </a:lnTo>
                  <a:lnTo>
                    <a:pt x="1447956" y="1447956"/>
                  </a:lnTo>
                  <a:lnTo>
                    <a:pt x="0" y="144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0" name="AutoShape 20"/>
            <p:cNvSpPr/>
            <p:nvPr/>
          </p:nvSpPr>
          <p:spPr>
            <a:xfrm flipV="1">
              <a:off x="1581057" y="0"/>
              <a:ext cx="0" cy="1447956"/>
            </a:xfrm>
            <a:prstGeom prst="line">
              <a:avLst/>
            </a:prstGeom>
            <a:ln w="48135" cap="flat">
              <a:solidFill>
                <a:srgbClr val="8B6BC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32336" y="294870"/>
              <a:ext cx="5198653" cy="429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</a:pPr>
              <a:r>
                <a:rPr lang="en-US" sz="2084" spc="-114">
                  <a:solidFill>
                    <a:srgbClr val="C0A0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Тайны и мифы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32336" y="846481"/>
              <a:ext cx="5198653" cy="429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</a:pPr>
              <a:r>
                <a:rPr lang="en-US" sz="2084" spc="-114">
                  <a:solidFill>
                    <a:srgbClr val="BFBFB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Королевского города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774022" y="-1196507"/>
            <a:ext cx="11020084" cy="12680013"/>
          </a:xfrm>
          <a:custGeom>
            <a:avLst/>
            <a:gdLst/>
            <a:ahLst/>
            <a:cxnLst/>
            <a:rect l="l" t="t" r="r" b="b"/>
            <a:pathLst>
              <a:path w="11020084" h="12680013">
                <a:moveTo>
                  <a:pt x="11020084" y="0"/>
                </a:moveTo>
                <a:lnTo>
                  <a:pt x="0" y="0"/>
                </a:lnTo>
                <a:lnTo>
                  <a:pt x="0" y="12680014"/>
                </a:lnTo>
                <a:lnTo>
                  <a:pt x="11020084" y="12680014"/>
                </a:lnTo>
                <a:lnTo>
                  <a:pt x="110200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993952" y="2083362"/>
            <a:ext cx="8580225" cy="4013871"/>
            <a:chOff x="0" y="0"/>
            <a:chExt cx="1329301" cy="6218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29301" cy="621854"/>
            </a:xfrm>
            <a:custGeom>
              <a:avLst/>
              <a:gdLst/>
              <a:ahLst/>
              <a:cxnLst/>
              <a:rect l="l" t="t" r="r" b="b"/>
              <a:pathLst>
                <a:path w="1329301" h="621854">
                  <a:moveTo>
                    <a:pt x="31580" y="0"/>
                  </a:moveTo>
                  <a:lnTo>
                    <a:pt x="1297721" y="0"/>
                  </a:lnTo>
                  <a:cubicBezTo>
                    <a:pt x="1306097" y="0"/>
                    <a:pt x="1314129" y="3327"/>
                    <a:pt x="1320052" y="9250"/>
                  </a:cubicBezTo>
                  <a:cubicBezTo>
                    <a:pt x="1325974" y="15172"/>
                    <a:pt x="1329301" y="23205"/>
                    <a:pt x="1329301" y="31580"/>
                  </a:cubicBezTo>
                  <a:lnTo>
                    <a:pt x="1329301" y="590273"/>
                  </a:lnTo>
                  <a:cubicBezTo>
                    <a:pt x="1329301" y="607715"/>
                    <a:pt x="1315162" y="621854"/>
                    <a:pt x="1297721" y="621854"/>
                  </a:cubicBezTo>
                  <a:lnTo>
                    <a:pt x="31580" y="621854"/>
                  </a:lnTo>
                  <a:cubicBezTo>
                    <a:pt x="14139" y="621854"/>
                    <a:pt x="0" y="607715"/>
                    <a:pt x="0" y="590273"/>
                  </a:cubicBezTo>
                  <a:lnTo>
                    <a:pt x="0" y="31580"/>
                  </a:lnTo>
                  <a:cubicBezTo>
                    <a:pt x="0" y="14139"/>
                    <a:pt x="14139" y="0"/>
                    <a:pt x="31580" y="0"/>
                  </a:cubicBezTo>
                  <a:close/>
                </a:path>
              </a:pathLst>
            </a:custGeom>
            <a:blipFill>
              <a:blip r:embed="rId4"/>
              <a:stretch>
                <a:fillRect b="-60323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7604396" y="7936624"/>
            <a:ext cx="1969006" cy="1355089"/>
          </a:xfrm>
          <a:custGeom>
            <a:avLst/>
            <a:gdLst/>
            <a:ahLst/>
            <a:cxnLst/>
            <a:rect l="l" t="t" r="r" b="b"/>
            <a:pathLst>
              <a:path w="1969006" h="1355089">
                <a:moveTo>
                  <a:pt x="0" y="0"/>
                </a:moveTo>
                <a:lnTo>
                  <a:pt x="1969005" y="0"/>
                </a:lnTo>
                <a:lnTo>
                  <a:pt x="1969005" y="1355089"/>
                </a:lnTo>
                <a:lnTo>
                  <a:pt x="0" y="13550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17255" r="-173204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993952" y="6503104"/>
            <a:ext cx="8580225" cy="3208079"/>
            <a:chOff x="0" y="0"/>
            <a:chExt cx="1329301" cy="4970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9301" cy="497015"/>
            </a:xfrm>
            <a:custGeom>
              <a:avLst/>
              <a:gdLst/>
              <a:ahLst/>
              <a:cxnLst/>
              <a:rect l="l" t="t" r="r" b="b"/>
              <a:pathLst>
                <a:path w="1329301" h="497015">
                  <a:moveTo>
                    <a:pt x="31580" y="0"/>
                  </a:moveTo>
                  <a:lnTo>
                    <a:pt x="1297721" y="0"/>
                  </a:lnTo>
                  <a:cubicBezTo>
                    <a:pt x="1306097" y="0"/>
                    <a:pt x="1314129" y="3327"/>
                    <a:pt x="1320052" y="9250"/>
                  </a:cubicBezTo>
                  <a:cubicBezTo>
                    <a:pt x="1325974" y="15172"/>
                    <a:pt x="1329301" y="23205"/>
                    <a:pt x="1329301" y="31580"/>
                  </a:cubicBezTo>
                  <a:lnTo>
                    <a:pt x="1329301" y="465435"/>
                  </a:lnTo>
                  <a:cubicBezTo>
                    <a:pt x="1329301" y="482876"/>
                    <a:pt x="1315162" y="497015"/>
                    <a:pt x="1297721" y="497015"/>
                  </a:cubicBezTo>
                  <a:lnTo>
                    <a:pt x="31580" y="497015"/>
                  </a:lnTo>
                  <a:cubicBezTo>
                    <a:pt x="14139" y="497015"/>
                    <a:pt x="0" y="482876"/>
                    <a:pt x="0" y="465435"/>
                  </a:cubicBezTo>
                  <a:lnTo>
                    <a:pt x="0" y="31580"/>
                  </a:lnTo>
                  <a:cubicBezTo>
                    <a:pt x="0" y="14139"/>
                    <a:pt x="14139" y="0"/>
                    <a:pt x="31580" y="0"/>
                  </a:cubicBezTo>
                  <a:close/>
                </a:path>
              </a:pathLst>
            </a:custGeom>
            <a:solidFill>
              <a:srgbClr val="AC8AE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659852" y="1508313"/>
            <a:ext cx="3514254" cy="1248514"/>
            <a:chOff x="0" y="0"/>
            <a:chExt cx="872303" cy="3099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2303" cy="309904"/>
            </a:xfrm>
            <a:custGeom>
              <a:avLst/>
              <a:gdLst/>
              <a:ahLst/>
              <a:cxnLst/>
              <a:rect l="l" t="t" r="r" b="b"/>
              <a:pathLst>
                <a:path w="872303" h="309904">
                  <a:moveTo>
                    <a:pt x="55075" y="0"/>
                  </a:moveTo>
                  <a:lnTo>
                    <a:pt x="817228" y="0"/>
                  </a:lnTo>
                  <a:cubicBezTo>
                    <a:pt x="847645" y="0"/>
                    <a:pt x="872303" y="24658"/>
                    <a:pt x="872303" y="55075"/>
                  </a:cubicBezTo>
                  <a:lnTo>
                    <a:pt x="872303" y="254829"/>
                  </a:lnTo>
                  <a:cubicBezTo>
                    <a:pt x="872303" y="269436"/>
                    <a:pt x="866501" y="283445"/>
                    <a:pt x="856172" y="293773"/>
                  </a:cubicBezTo>
                  <a:cubicBezTo>
                    <a:pt x="845844" y="304102"/>
                    <a:pt x="831835" y="309904"/>
                    <a:pt x="817228" y="309904"/>
                  </a:cubicBezTo>
                  <a:lnTo>
                    <a:pt x="55075" y="309904"/>
                  </a:lnTo>
                  <a:cubicBezTo>
                    <a:pt x="40468" y="309904"/>
                    <a:pt x="26460" y="304102"/>
                    <a:pt x="16131" y="293773"/>
                  </a:cubicBezTo>
                  <a:cubicBezTo>
                    <a:pt x="5803" y="283445"/>
                    <a:pt x="0" y="269436"/>
                    <a:pt x="0" y="254829"/>
                  </a:cubicBezTo>
                  <a:lnTo>
                    <a:pt x="0" y="55075"/>
                  </a:lnTo>
                  <a:cubicBezTo>
                    <a:pt x="0" y="40468"/>
                    <a:pt x="5803" y="26460"/>
                    <a:pt x="16131" y="16131"/>
                  </a:cubicBezTo>
                  <a:cubicBezTo>
                    <a:pt x="26460" y="5803"/>
                    <a:pt x="40468" y="0"/>
                    <a:pt x="55075" y="0"/>
                  </a:cubicBezTo>
                  <a:close/>
                </a:path>
              </a:pathLst>
            </a:custGeom>
            <a:solidFill>
              <a:srgbClr val="AC8AE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72303" cy="357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01640" y="1478993"/>
            <a:ext cx="3448598" cy="1208738"/>
            <a:chOff x="0" y="0"/>
            <a:chExt cx="856006" cy="3000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6006" cy="300031"/>
            </a:xfrm>
            <a:custGeom>
              <a:avLst/>
              <a:gdLst/>
              <a:ahLst/>
              <a:cxnLst/>
              <a:rect l="l" t="t" r="r" b="b"/>
              <a:pathLst>
                <a:path w="856006" h="300031">
                  <a:moveTo>
                    <a:pt x="56124" y="0"/>
                  </a:moveTo>
                  <a:lnTo>
                    <a:pt x="799882" y="0"/>
                  </a:lnTo>
                  <a:cubicBezTo>
                    <a:pt x="830879" y="0"/>
                    <a:pt x="856006" y="25127"/>
                    <a:pt x="856006" y="56124"/>
                  </a:cubicBezTo>
                  <a:lnTo>
                    <a:pt x="856006" y="243908"/>
                  </a:lnTo>
                  <a:cubicBezTo>
                    <a:pt x="856006" y="258793"/>
                    <a:pt x="850093" y="273068"/>
                    <a:pt x="839568" y="283593"/>
                  </a:cubicBezTo>
                  <a:cubicBezTo>
                    <a:pt x="829043" y="294118"/>
                    <a:pt x="814767" y="300031"/>
                    <a:pt x="799882" y="300031"/>
                  </a:cubicBezTo>
                  <a:lnTo>
                    <a:pt x="56124" y="300031"/>
                  </a:lnTo>
                  <a:cubicBezTo>
                    <a:pt x="25127" y="300031"/>
                    <a:pt x="0" y="274904"/>
                    <a:pt x="0" y="243908"/>
                  </a:cubicBezTo>
                  <a:lnTo>
                    <a:pt x="0" y="56124"/>
                  </a:lnTo>
                  <a:cubicBezTo>
                    <a:pt x="0" y="41239"/>
                    <a:pt x="5913" y="26963"/>
                    <a:pt x="16438" y="16438"/>
                  </a:cubicBezTo>
                  <a:cubicBezTo>
                    <a:pt x="26963" y="5913"/>
                    <a:pt x="41239" y="0"/>
                    <a:pt x="56124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56006" cy="347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1915" y="3784928"/>
            <a:ext cx="6380956" cy="5926255"/>
            <a:chOff x="0" y="0"/>
            <a:chExt cx="1583872" cy="14710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3872" cy="1471007"/>
            </a:xfrm>
            <a:custGeom>
              <a:avLst/>
              <a:gdLst/>
              <a:ahLst/>
              <a:cxnLst/>
              <a:rect l="l" t="t" r="r" b="b"/>
              <a:pathLst>
                <a:path w="1583872" h="1471007">
                  <a:moveTo>
                    <a:pt x="42465" y="0"/>
                  </a:moveTo>
                  <a:lnTo>
                    <a:pt x="1541407" y="0"/>
                  </a:lnTo>
                  <a:cubicBezTo>
                    <a:pt x="1564860" y="0"/>
                    <a:pt x="1583872" y="19012"/>
                    <a:pt x="1583872" y="42465"/>
                  </a:cubicBezTo>
                  <a:lnTo>
                    <a:pt x="1583872" y="1428542"/>
                  </a:lnTo>
                  <a:cubicBezTo>
                    <a:pt x="1583872" y="1451995"/>
                    <a:pt x="1564860" y="1471007"/>
                    <a:pt x="1541407" y="1471007"/>
                  </a:cubicBezTo>
                  <a:lnTo>
                    <a:pt x="42465" y="1471007"/>
                  </a:lnTo>
                  <a:cubicBezTo>
                    <a:pt x="31203" y="1471007"/>
                    <a:pt x="20401" y="1466533"/>
                    <a:pt x="12438" y="1458569"/>
                  </a:cubicBezTo>
                  <a:cubicBezTo>
                    <a:pt x="4474" y="1450605"/>
                    <a:pt x="0" y="1439804"/>
                    <a:pt x="0" y="1428542"/>
                  </a:cubicBezTo>
                  <a:lnTo>
                    <a:pt x="0" y="42465"/>
                  </a:lnTo>
                  <a:cubicBezTo>
                    <a:pt x="0" y="19012"/>
                    <a:pt x="19012" y="0"/>
                    <a:pt x="42465" y="0"/>
                  </a:cubicBezTo>
                  <a:close/>
                </a:path>
              </a:pathLst>
            </a:custGeom>
            <a:solidFill>
              <a:srgbClr val="D9D9D9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583872" cy="1518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10668950" y="5163426"/>
            <a:ext cx="4718814" cy="4547757"/>
          </a:xfrm>
          <a:custGeom>
            <a:avLst/>
            <a:gdLst/>
            <a:ahLst/>
            <a:cxnLst/>
            <a:rect l="l" t="t" r="r" b="b"/>
            <a:pathLst>
              <a:path w="4718814" h="4547757">
                <a:moveTo>
                  <a:pt x="4718813" y="0"/>
                </a:moveTo>
                <a:lnTo>
                  <a:pt x="0" y="0"/>
                </a:lnTo>
                <a:lnTo>
                  <a:pt x="0" y="4547757"/>
                </a:lnTo>
                <a:lnTo>
                  <a:pt x="4718813" y="4547757"/>
                </a:lnTo>
                <a:lnTo>
                  <a:pt x="4718813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396248" y="259905"/>
            <a:ext cx="4657373" cy="972974"/>
            <a:chOff x="0" y="0"/>
            <a:chExt cx="6209831" cy="12972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7299" cy="1297299"/>
            </a:xfrm>
            <a:custGeom>
              <a:avLst/>
              <a:gdLst/>
              <a:ahLst/>
              <a:cxnLst/>
              <a:rect l="l" t="t" r="r" b="b"/>
              <a:pathLst>
                <a:path w="1297299" h="1297299">
                  <a:moveTo>
                    <a:pt x="0" y="0"/>
                  </a:moveTo>
                  <a:lnTo>
                    <a:pt x="1297299" y="0"/>
                  </a:lnTo>
                  <a:lnTo>
                    <a:pt x="1297299" y="1297299"/>
                  </a:lnTo>
                  <a:lnTo>
                    <a:pt x="0" y="1297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20" name="AutoShape 20"/>
            <p:cNvSpPr/>
            <p:nvPr/>
          </p:nvSpPr>
          <p:spPr>
            <a:xfrm flipV="1">
              <a:off x="1416551" y="0"/>
              <a:ext cx="0" cy="1297299"/>
            </a:xfrm>
            <a:prstGeom prst="line">
              <a:avLst/>
            </a:prstGeom>
            <a:ln w="43127" cap="flat">
              <a:solidFill>
                <a:srgbClr val="8B6BC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52089" y="263198"/>
              <a:ext cx="4657742" cy="3854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7"/>
                </a:lnSpc>
              </a:pPr>
              <a:r>
                <a:rPr lang="en-US" sz="1867" spc="-102">
                  <a:solidFill>
                    <a:srgbClr val="BDA0F6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Тайны и мифы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52089" y="757415"/>
              <a:ext cx="4657742" cy="3854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7"/>
                </a:lnSpc>
              </a:pPr>
              <a:r>
                <a:rPr lang="en-US" sz="1867" spc="-102">
                  <a:solidFill>
                    <a:srgbClr val="BFBFB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Королевского города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51915" y="1534813"/>
            <a:ext cx="7322107" cy="1919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0"/>
              </a:lnSpc>
            </a:pPr>
            <a:r>
              <a:rPr lang="en-US" sz="4700" spc="-258">
                <a:solidFill>
                  <a:srgbClr val="BFBFB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Формирование легендарного ландшафта Гродно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43302" y="1698863"/>
            <a:ext cx="2501457" cy="730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2"/>
              </a:lnSpc>
            </a:pPr>
            <a:r>
              <a:rPr lang="en-US" sz="210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Анкетирование </a:t>
            </a:r>
          </a:p>
          <a:p>
            <a:pPr algn="ctr">
              <a:lnSpc>
                <a:spcPts val="2942"/>
              </a:lnSpc>
            </a:pPr>
            <a:r>
              <a:rPr lang="en-US" sz="2101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учащихся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2994" y="4064339"/>
            <a:ext cx="5258798" cy="521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604399"/>
                </a:solidFill>
                <a:latin typeface="TT Firs Neue"/>
                <a:ea typeface="TT Firs Neue"/>
                <a:cs typeface="TT Firs Neue"/>
                <a:sym typeface="TT Firs Neue"/>
              </a:rPr>
              <a:t>Для определения актуальности проекта и выявления предпочтений потенциальной аудитории нами было проведено анкетирование среди учащихся ГУО «Средняя школа № 27 имени В.В. Юртова» г. Гродно. В опросе приняли участие 90 респондентов в возрасте 14–17 лет.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865" y="-605164"/>
            <a:ext cx="14089309" cy="1049606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896645" y="3247230"/>
            <a:ext cx="1562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35070" y="4886028"/>
            <a:ext cx="24958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20918" y="2385749"/>
            <a:ext cx="25152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80854" y="6165748"/>
            <a:ext cx="25345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49932" y="6670361"/>
            <a:ext cx="25717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48628" y="5708549"/>
            <a:ext cx="25538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83007" y="3247230"/>
            <a:ext cx="22101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71709" y="4428829"/>
            <a:ext cx="270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44913" y="6394348"/>
            <a:ext cx="25538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7335" y="2493897"/>
            <a:ext cx="39290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0241" y="1994589"/>
            <a:ext cx="27071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26839" y="1799009"/>
            <a:ext cx="35168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45371" y="7495320"/>
            <a:ext cx="4093579" cy="1762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9"/>
              </a:lnSpc>
            </a:pPr>
            <a:r>
              <a:rPr lang="en-US" sz="2013">
                <a:solidFill>
                  <a:srgbClr val="F8F8F9"/>
                </a:solidFill>
                <a:latin typeface="TT Firs Neue"/>
                <a:ea typeface="TT Firs Neue"/>
                <a:cs typeface="TT Firs Neue"/>
                <a:sym typeface="TT Firs Neue"/>
              </a:rPr>
              <a:t>9- Белая голубка (43 чел.) </a:t>
            </a:r>
          </a:p>
          <a:p>
            <a:pPr algn="just">
              <a:lnSpc>
                <a:spcPts val="2819"/>
              </a:lnSpc>
            </a:pPr>
            <a:r>
              <a:rPr lang="en-US" sz="2013">
                <a:solidFill>
                  <a:srgbClr val="F8F8F9"/>
                </a:solidFill>
                <a:latin typeface="TT Firs Neue"/>
                <a:ea typeface="TT Firs Neue"/>
                <a:cs typeface="TT Firs Neue"/>
                <a:sym typeface="TT Firs Neue"/>
              </a:rPr>
              <a:t>11-Тень монаха Бернардинского монастыря (18 чел.) </a:t>
            </a:r>
          </a:p>
          <a:p>
            <a:pPr algn="just">
              <a:lnSpc>
                <a:spcPts val="2819"/>
              </a:lnSpc>
            </a:pPr>
            <a:r>
              <a:rPr lang="en-US" sz="2013">
                <a:solidFill>
                  <a:srgbClr val="F8F8F9"/>
                </a:solidFill>
                <a:latin typeface="TT Firs Neue"/>
                <a:ea typeface="TT Firs Neue"/>
                <a:cs typeface="TT Firs Neue"/>
                <a:sym typeface="TT Firs Neue"/>
              </a:rPr>
              <a:t>12- Ведьма Юбилейного озера (16 чел.)</a:t>
            </a:r>
          </a:p>
        </p:txBody>
      </p:sp>
      <p:grpSp>
        <p:nvGrpSpPr>
          <p:cNvPr id="16" name="Group 16"/>
          <p:cNvGrpSpPr/>
          <p:nvPr/>
        </p:nvGrpSpPr>
        <p:grpSpPr>
          <a:xfrm rot="9665457">
            <a:off x="1033698" y="-782654"/>
            <a:ext cx="1794100" cy="1817500"/>
            <a:chOff x="0" y="0"/>
            <a:chExt cx="611023" cy="6189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1023" cy="618993"/>
            </a:xfrm>
            <a:custGeom>
              <a:avLst/>
              <a:gdLst/>
              <a:ahLst/>
              <a:cxnLst/>
              <a:rect l="l" t="t" r="r" b="b"/>
              <a:pathLst>
                <a:path w="611023" h="618993">
                  <a:moveTo>
                    <a:pt x="220076" y="0"/>
                  </a:moveTo>
                  <a:lnTo>
                    <a:pt x="390947" y="0"/>
                  </a:lnTo>
                  <a:cubicBezTo>
                    <a:pt x="449315" y="0"/>
                    <a:pt x="505292" y="23186"/>
                    <a:pt x="546564" y="64459"/>
                  </a:cubicBezTo>
                  <a:cubicBezTo>
                    <a:pt x="587837" y="105731"/>
                    <a:pt x="611023" y="161708"/>
                    <a:pt x="611023" y="220076"/>
                  </a:cubicBezTo>
                  <a:lnTo>
                    <a:pt x="611023" y="398917"/>
                  </a:lnTo>
                  <a:cubicBezTo>
                    <a:pt x="611023" y="457285"/>
                    <a:pt x="587837" y="513262"/>
                    <a:pt x="546564" y="554534"/>
                  </a:cubicBezTo>
                  <a:cubicBezTo>
                    <a:pt x="505292" y="595806"/>
                    <a:pt x="449315" y="618993"/>
                    <a:pt x="390947" y="618993"/>
                  </a:cubicBezTo>
                  <a:lnTo>
                    <a:pt x="220076" y="618993"/>
                  </a:lnTo>
                  <a:cubicBezTo>
                    <a:pt x="161708" y="618993"/>
                    <a:pt x="105731" y="595806"/>
                    <a:pt x="64459" y="554534"/>
                  </a:cubicBezTo>
                  <a:cubicBezTo>
                    <a:pt x="23186" y="513262"/>
                    <a:pt x="0" y="457285"/>
                    <a:pt x="0" y="398917"/>
                  </a:cubicBezTo>
                  <a:lnTo>
                    <a:pt x="0" y="220076"/>
                  </a:lnTo>
                  <a:cubicBezTo>
                    <a:pt x="0" y="161708"/>
                    <a:pt x="23186" y="105731"/>
                    <a:pt x="64459" y="64459"/>
                  </a:cubicBezTo>
                  <a:cubicBezTo>
                    <a:pt x="105731" y="23186"/>
                    <a:pt x="161708" y="0"/>
                    <a:pt x="220076" y="0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11023" cy="65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9771303">
            <a:off x="-143487" y="339833"/>
            <a:ext cx="1715763" cy="1762343"/>
            <a:chOff x="0" y="0"/>
            <a:chExt cx="584343" cy="6002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4343" cy="600207"/>
            </a:xfrm>
            <a:custGeom>
              <a:avLst/>
              <a:gdLst/>
              <a:ahLst/>
              <a:cxnLst/>
              <a:rect l="l" t="t" r="r" b="b"/>
              <a:pathLst>
                <a:path w="584343" h="600207">
                  <a:moveTo>
                    <a:pt x="230124" y="0"/>
                  </a:moveTo>
                  <a:lnTo>
                    <a:pt x="354220" y="0"/>
                  </a:lnTo>
                  <a:cubicBezTo>
                    <a:pt x="415252" y="0"/>
                    <a:pt x="473785" y="24245"/>
                    <a:pt x="516942" y="67402"/>
                  </a:cubicBezTo>
                  <a:cubicBezTo>
                    <a:pt x="560098" y="110558"/>
                    <a:pt x="584343" y="169091"/>
                    <a:pt x="584343" y="230124"/>
                  </a:cubicBezTo>
                  <a:lnTo>
                    <a:pt x="584343" y="370084"/>
                  </a:lnTo>
                  <a:cubicBezTo>
                    <a:pt x="584343" y="431116"/>
                    <a:pt x="560098" y="489649"/>
                    <a:pt x="516942" y="532806"/>
                  </a:cubicBezTo>
                  <a:cubicBezTo>
                    <a:pt x="473785" y="575962"/>
                    <a:pt x="415252" y="600207"/>
                    <a:pt x="354220" y="600207"/>
                  </a:cubicBezTo>
                  <a:lnTo>
                    <a:pt x="230124" y="600207"/>
                  </a:lnTo>
                  <a:cubicBezTo>
                    <a:pt x="169091" y="600207"/>
                    <a:pt x="110558" y="575962"/>
                    <a:pt x="67402" y="532806"/>
                  </a:cubicBezTo>
                  <a:cubicBezTo>
                    <a:pt x="24245" y="489649"/>
                    <a:pt x="0" y="431116"/>
                    <a:pt x="0" y="370084"/>
                  </a:cubicBezTo>
                  <a:lnTo>
                    <a:pt x="0" y="230124"/>
                  </a:lnTo>
                  <a:cubicBezTo>
                    <a:pt x="0" y="169091"/>
                    <a:pt x="24245" y="110558"/>
                    <a:pt x="67402" y="67402"/>
                  </a:cubicBezTo>
                  <a:cubicBezTo>
                    <a:pt x="110558" y="24245"/>
                    <a:pt x="169091" y="0"/>
                    <a:pt x="230124" y="0"/>
                  </a:cubicBezTo>
                  <a:close/>
                </a:path>
              </a:pathLst>
            </a:custGeom>
            <a:solidFill>
              <a:srgbClr val="A4A4A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84343" cy="638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2809419">
            <a:off x="-748417" y="-791813"/>
            <a:ext cx="2386562" cy="1835817"/>
            <a:chOff x="0" y="0"/>
            <a:chExt cx="660400" cy="508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solidFill>
              <a:srgbClr val="7B7676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14395" y="951812"/>
            <a:ext cx="4242474" cy="886297"/>
            <a:chOff x="0" y="0"/>
            <a:chExt cx="5656632" cy="118173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81730" cy="1181730"/>
            </a:xfrm>
            <a:custGeom>
              <a:avLst/>
              <a:gdLst/>
              <a:ahLst/>
              <a:cxnLst/>
              <a:rect l="l" t="t" r="r" b="b"/>
              <a:pathLst>
                <a:path w="1181730" h="1181730">
                  <a:moveTo>
                    <a:pt x="0" y="0"/>
                  </a:moveTo>
                  <a:lnTo>
                    <a:pt x="1181730" y="0"/>
                  </a:lnTo>
                  <a:lnTo>
                    <a:pt x="1181730" y="1181730"/>
                  </a:lnTo>
                  <a:lnTo>
                    <a:pt x="0" y="1181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7" name="AutoShape 27"/>
            <p:cNvSpPr/>
            <p:nvPr/>
          </p:nvSpPr>
          <p:spPr>
            <a:xfrm flipV="1">
              <a:off x="1290358" y="0"/>
              <a:ext cx="0" cy="1181730"/>
            </a:xfrm>
            <a:prstGeom prst="line">
              <a:avLst/>
            </a:prstGeom>
            <a:ln w="39285" cap="flat">
              <a:solidFill>
                <a:srgbClr val="8B6BC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13822" y="229378"/>
              <a:ext cx="4242810" cy="361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01"/>
                </a:lnSpc>
              </a:pPr>
              <a:r>
                <a:rPr lang="en-US" sz="1701" spc="-93">
                  <a:solidFill>
                    <a:srgbClr val="C0A0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Тайны и мифы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13822" y="679567"/>
              <a:ext cx="4242810" cy="361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01"/>
                </a:lnSpc>
              </a:pPr>
              <a:r>
                <a:rPr lang="en-US" sz="1701" spc="-93">
                  <a:solidFill>
                    <a:srgbClr val="BFBFB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Королевского города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 rot="-1134542">
            <a:off x="14678826" y="8457094"/>
            <a:ext cx="2319978" cy="2350237"/>
            <a:chOff x="0" y="0"/>
            <a:chExt cx="611023" cy="61899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11023" cy="618993"/>
            </a:xfrm>
            <a:custGeom>
              <a:avLst/>
              <a:gdLst/>
              <a:ahLst/>
              <a:cxnLst/>
              <a:rect l="l" t="t" r="r" b="b"/>
              <a:pathLst>
                <a:path w="611023" h="618993">
                  <a:moveTo>
                    <a:pt x="170190" y="0"/>
                  </a:moveTo>
                  <a:lnTo>
                    <a:pt x="440833" y="0"/>
                  </a:lnTo>
                  <a:cubicBezTo>
                    <a:pt x="485970" y="0"/>
                    <a:pt x="529258" y="17931"/>
                    <a:pt x="561175" y="49848"/>
                  </a:cubicBezTo>
                  <a:cubicBezTo>
                    <a:pt x="593092" y="81764"/>
                    <a:pt x="611023" y="125053"/>
                    <a:pt x="611023" y="170190"/>
                  </a:cubicBezTo>
                  <a:lnTo>
                    <a:pt x="611023" y="448802"/>
                  </a:lnTo>
                  <a:cubicBezTo>
                    <a:pt x="611023" y="542796"/>
                    <a:pt x="534826" y="618993"/>
                    <a:pt x="440833" y="618993"/>
                  </a:cubicBezTo>
                  <a:lnTo>
                    <a:pt x="170190" y="618993"/>
                  </a:lnTo>
                  <a:cubicBezTo>
                    <a:pt x="125053" y="618993"/>
                    <a:pt x="81764" y="601062"/>
                    <a:pt x="49848" y="569145"/>
                  </a:cubicBezTo>
                  <a:cubicBezTo>
                    <a:pt x="17931" y="537228"/>
                    <a:pt x="0" y="493940"/>
                    <a:pt x="0" y="448802"/>
                  </a:cubicBezTo>
                  <a:lnTo>
                    <a:pt x="0" y="170190"/>
                  </a:lnTo>
                  <a:cubicBezTo>
                    <a:pt x="0" y="76197"/>
                    <a:pt x="76197" y="0"/>
                    <a:pt x="170190" y="0"/>
                  </a:cubicBezTo>
                  <a:close/>
                </a:path>
              </a:pathLst>
            </a:custGeom>
            <a:solidFill>
              <a:srgbClr val="BDA0F6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611023" cy="65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1028696">
            <a:off x="16302360" y="7076913"/>
            <a:ext cx="2218679" cy="2278913"/>
            <a:chOff x="0" y="0"/>
            <a:chExt cx="584343" cy="60020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84343" cy="600207"/>
            </a:xfrm>
            <a:custGeom>
              <a:avLst/>
              <a:gdLst/>
              <a:ahLst/>
              <a:cxnLst/>
              <a:rect l="l" t="t" r="r" b="b"/>
              <a:pathLst>
                <a:path w="584343" h="600207">
                  <a:moveTo>
                    <a:pt x="177961" y="0"/>
                  </a:moveTo>
                  <a:lnTo>
                    <a:pt x="406383" y="0"/>
                  </a:lnTo>
                  <a:cubicBezTo>
                    <a:pt x="504668" y="0"/>
                    <a:pt x="584343" y="79676"/>
                    <a:pt x="584343" y="177961"/>
                  </a:cubicBezTo>
                  <a:lnTo>
                    <a:pt x="584343" y="422247"/>
                  </a:lnTo>
                  <a:cubicBezTo>
                    <a:pt x="584343" y="520532"/>
                    <a:pt x="504668" y="600207"/>
                    <a:pt x="406383" y="600207"/>
                  </a:cubicBezTo>
                  <a:lnTo>
                    <a:pt x="177961" y="600207"/>
                  </a:lnTo>
                  <a:cubicBezTo>
                    <a:pt x="79676" y="600207"/>
                    <a:pt x="0" y="520532"/>
                    <a:pt x="0" y="422247"/>
                  </a:cubicBezTo>
                  <a:lnTo>
                    <a:pt x="0" y="177961"/>
                  </a:lnTo>
                  <a:cubicBezTo>
                    <a:pt x="0" y="79676"/>
                    <a:pt x="79676" y="0"/>
                    <a:pt x="177961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84343" cy="638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 rot="7990580">
            <a:off x="16217184" y="8445251"/>
            <a:ext cx="3086100" cy="2373923"/>
            <a:chOff x="0" y="0"/>
            <a:chExt cx="660400" cy="508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60400" cy="508000"/>
            </a:xfrm>
            <a:custGeom>
              <a:avLst/>
              <a:gdLst/>
              <a:ahLst/>
              <a:cxnLst/>
              <a:rect l="l" t="t" r="r" b="b"/>
              <a:pathLst>
                <a:path w="660400" h="5080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solidFill>
              <a:srgbClr val="AC8AEF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12818" y="2226925"/>
            <a:ext cx="9465624" cy="9431204"/>
          </a:xfrm>
          <a:custGeom>
            <a:avLst/>
            <a:gdLst/>
            <a:ahLst/>
            <a:cxnLst/>
            <a:rect l="l" t="t" r="r" b="b"/>
            <a:pathLst>
              <a:path w="9465624" h="9431204">
                <a:moveTo>
                  <a:pt x="0" y="0"/>
                </a:moveTo>
                <a:lnTo>
                  <a:pt x="9465624" y="0"/>
                </a:lnTo>
                <a:lnTo>
                  <a:pt x="9465624" y="9431204"/>
                </a:lnTo>
                <a:lnTo>
                  <a:pt x="0" y="9431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90211" y="-507448"/>
            <a:ext cx="1969006" cy="1355089"/>
          </a:xfrm>
          <a:custGeom>
            <a:avLst/>
            <a:gdLst/>
            <a:ahLst/>
            <a:cxnLst/>
            <a:rect l="l" t="t" r="r" b="b"/>
            <a:pathLst>
              <a:path w="1969006" h="1355089">
                <a:moveTo>
                  <a:pt x="0" y="0"/>
                </a:moveTo>
                <a:lnTo>
                  <a:pt x="1969006" y="0"/>
                </a:lnTo>
                <a:lnTo>
                  <a:pt x="1969006" y="1355089"/>
                </a:lnTo>
                <a:lnTo>
                  <a:pt x="0" y="1355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17255" r="-17320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8706" y="455658"/>
            <a:ext cx="5486008" cy="1146085"/>
            <a:chOff x="0" y="0"/>
            <a:chExt cx="7314677" cy="15281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8113" cy="1528113"/>
            </a:xfrm>
            <a:custGeom>
              <a:avLst/>
              <a:gdLst/>
              <a:ahLst/>
              <a:cxnLst/>
              <a:rect l="l" t="t" r="r" b="b"/>
              <a:pathLst>
                <a:path w="1528113" h="1528113">
                  <a:moveTo>
                    <a:pt x="0" y="0"/>
                  </a:moveTo>
                  <a:lnTo>
                    <a:pt x="1528113" y="0"/>
                  </a:lnTo>
                  <a:lnTo>
                    <a:pt x="1528113" y="1528113"/>
                  </a:lnTo>
                  <a:lnTo>
                    <a:pt x="0" y="152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6" name="AutoShape 6"/>
            <p:cNvSpPr/>
            <p:nvPr/>
          </p:nvSpPr>
          <p:spPr>
            <a:xfrm flipV="1">
              <a:off x="1668582" y="0"/>
              <a:ext cx="0" cy="1528113"/>
            </a:xfrm>
            <a:prstGeom prst="line">
              <a:avLst/>
            </a:prstGeom>
            <a:ln w="50800" cap="flat">
              <a:solidFill>
                <a:srgbClr val="8B6BC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28235" y="302196"/>
              <a:ext cx="5486442" cy="461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0"/>
                </a:lnSpc>
              </a:pPr>
              <a:r>
                <a:rPr lang="en-US" sz="2200" spc="-121">
                  <a:solidFill>
                    <a:srgbClr val="C0A0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Тайны и мифы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28235" y="884343"/>
              <a:ext cx="5486442" cy="461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0"/>
                </a:lnSpc>
              </a:pPr>
              <a:r>
                <a:rPr lang="en-US" sz="2200" spc="-121">
                  <a:solidFill>
                    <a:srgbClr val="BFBFB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Королевского города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654116"/>
            <a:ext cx="8420367" cy="4903128"/>
            <a:chOff x="0" y="0"/>
            <a:chExt cx="2090092" cy="12170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90092" cy="1217048"/>
            </a:xfrm>
            <a:custGeom>
              <a:avLst/>
              <a:gdLst/>
              <a:ahLst/>
              <a:cxnLst/>
              <a:rect l="l" t="t" r="r" b="b"/>
              <a:pathLst>
                <a:path w="2090092" h="1217048">
                  <a:moveTo>
                    <a:pt x="55166" y="0"/>
                  </a:moveTo>
                  <a:lnTo>
                    <a:pt x="2034926" y="0"/>
                  </a:lnTo>
                  <a:cubicBezTo>
                    <a:pt x="2065394" y="0"/>
                    <a:pt x="2090092" y="24699"/>
                    <a:pt x="2090092" y="55166"/>
                  </a:cubicBezTo>
                  <a:lnTo>
                    <a:pt x="2090092" y="1161882"/>
                  </a:lnTo>
                  <a:cubicBezTo>
                    <a:pt x="2090092" y="1192349"/>
                    <a:pt x="2065394" y="1217048"/>
                    <a:pt x="2034926" y="1217048"/>
                  </a:cubicBezTo>
                  <a:lnTo>
                    <a:pt x="55166" y="1217048"/>
                  </a:lnTo>
                  <a:cubicBezTo>
                    <a:pt x="24699" y="1217048"/>
                    <a:pt x="0" y="1192349"/>
                    <a:pt x="0" y="1161882"/>
                  </a:cubicBezTo>
                  <a:lnTo>
                    <a:pt x="0" y="55166"/>
                  </a:lnTo>
                  <a:cubicBezTo>
                    <a:pt x="0" y="24699"/>
                    <a:pt x="24699" y="0"/>
                    <a:pt x="55166" y="0"/>
                  </a:cubicBezTo>
                  <a:close/>
                </a:path>
              </a:pathLst>
            </a:custGeom>
            <a:solidFill>
              <a:srgbClr val="7B7676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090092" cy="1264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8202" y="4849274"/>
            <a:ext cx="8420367" cy="4903128"/>
            <a:chOff x="0" y="0"/>
            <a:chExt cx="2090092" cy="12170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90092" cy="1217048"/>
            </a:xfrm>
            <a:custGeom>
              <a:avLst/>
              <a:gdLst/>
              <a:ahLst/>
              <a:cxnLst/>
              <a:rect l="l" t="t" r="r" b="b"/>
              <a:pathLst>
                <a:path w="2090092" h="1217048">
                  <a:moveTo>
                    <a:pt x="55166" y="0"/>
                  </a:moveTo>
                  <a:lnTo>
                    <a:pt x="2034926" y="0"/>
                  </a:lnTo>
                  <a:cubicBezTo>
                    <a:pt x="2065394" y="0"/>
                    <a:pt x="2090092" y="24699"/>
                    <a:pt x="2090092" y="55166"/>
                  </a:cubicBezTo>
                  <a:lnTo>
                    <a:pt x="2090092" y="1161882"/>
                  </a:lnTo>
                  <a:cubicBezTo>
                    <a:pt x="2090092" y="1192349"/>
                    <a:pt x="2065394" y="1217048"/>
                    <a:pt x="2034926" y="1217048"/>
                  </a:cubicBezTo>
                  <a:lnTo>
                    <a:pt x="55166" y="1217048"/>
                  </a:lnTo>
                  <a:cubicBezTo>
                    <a:pt x="24699" y="1217048"/>
                    <a:pt x="0" y="1192349"/>
                    <a:pt x="0" y="1161882"/>
                  </a:cubicBezTo>
                  <a:lnTo>
                    <a:pt x="0" y="55166"/>
                  </a:lnTo>
                  <a:cubicBezTo>
                    <a:pt x="0" y="24699"/>
                    <a:pt x="24699" y="0"/>
                    <a:pt x="55166" y="0"/>
                  </a:cubicBezTo>
                  <a:close/>
                </a:path>
              </a:pathLst>
            </a:custGeom>
            <a:solidFill>
              <a:srgbClr val="BFBFB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090092" cy="1264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4887" y="2628023"/>
            <a:ext cx="9674759" cy="7178134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762057" y="1866679"/>
            <a:ext cx="7412657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BFBFB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С чего всё начиналось?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8546" y="5188193"/>
            <a:ext cx="7919679" cy="417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416"/>
                </a:solidFill>
                <a:latin typeface="TT Firs Neue"/>
                <a:ea typeface="TT Firs Neue"/>
                <a:cs typeface="TT Firs Neue"/>
                <a:sym typeface="TT Firs Neue"/>
              </a:rPr>
              <a:t>  Изначально проект задумывался как </a:t>
            </a:r>
            <a:r>
              <a:rPr lang="en-US" sz="2400" b="1">
                <a:solidFill>
                  <a:srgbClr val="1514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классический веб-сайт с текстовым описанием легенд</a:t>
            </a:r>
            <a:r>
              <a:rPr lang="en-US" sz="2400">
                <a:solidFill>
                  <a:srgbClr val="151416"/>
                </a:solidFill>
                <a:latin typeface="TT Firs Neue"/>
                <a:ea typeface="TT Firs Neue"/>
                <a:cs typeface="TT Firs Neue"/>
                <a:sym typeface="TT Firs Neue"/>
              </a:rPr>
              <a:t> Гродно. Однако в процессе обсуждения стало очевидно, что формат обычного сайта не позволяет реализовать интерактивный потенциал проекта и не соответствует ожиданиям молодежной аудитории.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416"/>
                </a:solidFill>
                <a:latin typeface="TT Firs Neue"/>
                <a:ea typeface="TT Firs Neue"/>
                <a:cs typeface="TT Firs Neue"/>
                <a:sym typeface="TT Firs Neue"/>
              </a:rPr>
              <a:t>  Стремление создать продукт,</a:t>
            </a:r>
            <a:r>
              <a:rPr lang="en-US" sz="2400" b="1">
                <a:solidFill>
                  <a:srgbClr val="1514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НЕ ИМЕЮЩИЙ АНАЛОГОВ</a:t>
            </a:r>
            <a:r>
              <a:rPr lang="en-US" sz="2400">
                <a:solidFill>
                  <a:srgbClr val="151416"/>
                </a:solidFill>
                <a:latin typeface="TT Firs Neue"/>
                <a:ea typeface="TT Firs Neue"/>
                <a:cs typeface="TT Firs Neue"/>
                <a:sym typeface="TT Firs Neue"/>
              </a:rPr>
              <a:t> в Республике Беларусь сподвигло нас искать платформы для приложения.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416"/>
                </a:solidFill>
                <a:latin typeface="TT Firs Neue"/>
                <a:ea typeface="TT Firs Neue"/>
                <a:cs typeface="TT Firs Neue"/>
                <a:sym typeface="TT Firs Neue"/>
              </a:rPr>
              <a:t>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6016" y="772207"/>
            <a:ext cx="5486008" cy="1146085"/>
            <a:chOff x="0" y="0"/>
            <a:chExt cx="7314677" cy="15281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8113" cy="1528113"/>
            </a:xfrm>
            <a:custGeom>
              <a:avLst/>
              <a:gdLst/>
              <a:ahLst/>
              <a:cxnLst/>
              <a:rect l="l" t="t" r="r" b="b"/>
              <a:pathLst>
                <a:path w="1528113" h="1528113">
                  <a:moveTo>
                    <a:pt x="0" y="0"/>
                  </a:moveTo>
                  <a:lnTo>
                    <a:pt x="1528113" y="0"/>
                  </a:lnTo>
                  <a:lnTo>
                    <a:pt x="1528113" y="1528113"/>
                  </a:lnTo>
                  <a:lnTo>
                    <a:pt x="0" y="1528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AutoShape 4"/>
            <p:cNvSpPr/>
            <p:nvPr/>
          </p:nvSpPr>
          <p:spPr>
            <a:xfrm flipV="1">
              <a:off x="1668582" y="0"/>
              <a:ext cx="0" cy="1528113"/>
            </a:xfrm>
            <a:prstGeom prst="line">
              <a:avLst/>
            </a:prstGeom>
            <a:ln w="50800" cap="flat">
              <a:solidFill>
                <a:srgbClr val="8B6BC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828235" y="302196"/>
              <a:ext cx="5486442" cy="461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0"/>
                </a:lnSpc>
              </a:pPr>
              <a:r>
                <a:rPr lang="en-US" sz="2200" spc="-121">
                  <a:solidFill>
                    <a:srgbClr val="C0A0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Тайны и мифы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28235" y="884343"/>
              <a:ext cx="5486442" cy="4618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0"/>
                </a:lnSpc>
              </a:pPr>
              <a:r>
                <a:rPr lang="en-US" sz="2200" spc="-121">
                  <a:solidFill>
                    <a:srgbClr val="A4A4A4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Королевского города</a:t>
              </a:r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45" y="2138782"/>
            <a:ext cx="4428965" cy="775626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155" y="2148395"/>
            <a:ext cx="4537962" cy="775626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9144000" y="3151869"/>
            <a:ext cx="7500078" cy="6096819"/>
            <a:chOff x="0" y="0"/>
            <a:chExt cx="1543226" cy="12544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43226" cy="1254490"/>
            </a:xfrm>
            <a:custGeom>
              <a:avLst/>
              <a:gdLst/>
              <a:ahLst/>
              <a:cxnLst/>
              <a:rect l="l" t="t" r="r" b="b"/>
              <a:pathLst>
                <a:path w="1543226" h="1254490">
                  <a:moveTo>
                    <a:pt x="53225" y="0"/>
                  </a:moveTo>
                  <a:lnTo>
                    <a:pt x="1490001" y="0"/>
                  </a:lnTo>
                  <a:cubicBezTo>
                    <a:pt x="1519396" y="0"/>
                    <a:pt x="1543226" y="23830"/>
                    <a:pt x="1543226" y="53225"/>
                  </a:cubicBezTo>
                  <a:lnTo>
                    <a:pt x="1543226" y="1201264"/>
                  </a:lnTo>
                  <a:cubicBezTo>
                    <a:pt x="1543226" y="1230660"/>
                    <a:pt x="1519396" y="1254490"/>
                    <a:pt x="1490001" y="1254490"/>
                  </a:cubicBezTo>
                  <a:lnTo>
                    <a:pt x="53225" y="1254490"/>
                  </a:lnTo>
                  <a:cubicBezTo>
                    <a:pt x="23830" y="1254490"/>
                    <a:pt x="0" y="1230660"/>
                    <a:pt x="0" y="1201264"/>
                  </a:cubicBezTo>
                  <a:lnTo>
                    <a:pt x="0" y="53225"/>
                  </a:lnTo>
                  <a:cubicBezTo>
                    <a:pt x="0" y="23830"/>
                    <a:pt x="23830" y="0"/>
                    <a:pt x="53225" y="0"/>
                  </a:cubicBezTo>
                  <a:close/>
                </a:path>
              </a:pathLst>
            </a:custGeom>
            <a:solidFill>
              <a:srgbClr val="C0A0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43226" cy="1292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716250" y="7704888"/>
            <a:ext cx="3086100" cy="2834418"/>
            <a:chOff x="0" y="0"/>
            <a:chExt cx="558800" cy="5132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8800" cy="513228"/>
            </a:xfrm>
            <a:custGeom>
              <a:avLst/>
              <a:gdLst/>
              <a:ahLst/>
              <a:cxnLst/>
              <a:rect l="l" t="t" r="r" b="b"/>
              <a:pathLst>
                <a:path w="558800" h="513228">
                  <a:moveTo>
                    <a:pt x="0" y="513228"/>
                  </a:moveTo>
                  <a:cubicBezTo>
                    <a:pt x="0" y="378064"/>
                    <a:pt x="59606" y="245897"/>
                    <a:pt x="163669" y="150321"/>
                  </a:cubicBezTo>
                  <a:cubicBezTo>
                    <a:pt x="267731" y="54745"/>
                    <a:pt x="411634" y="0"/>
                    <a:pt x="558800" y="0"/>
                  </a:cubicBezTo>
                  <a:lnTo>
                    <a:pt x="558800" y="513228"/>
                  </a:lnTo>
                  <a:lnTo>
                    <a:pt x="0" y="513228"/>
                  </a:lnTo>
                  <a:close/>
                </a:path>
              </a:pathLst>
            </a:custGeom>
            <a:solidFill>
              <a:srgbClr val="93A6D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65100" y="113536"/>
              <a:ext cx="393700" cy="399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44000" y="734107"/>
            <a:ext cx="7500078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00"/>
              </a:lnSpc>
            </a:pPr>
            <a:r>
              <a:rPr lang="en-US" sz="6800" spc="-374">
                <a:solidFill>
                  <a:srgbClr val="D9D9D9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Каталог мифов и легенд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79526" y="3778461"/>
            <a:ext cx="6229025" cy="474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Центральным разделом приложения является каталог мифов и легенд, который содержит 9 историй. Все легенды распределены по тематическим категориям. Страница содержит название, текст легенды, категорию и временной период, к которому она относится, а также теги для быстрой ориентации.</a:t>
            </a:r>
          </a:p>
          <a:p>
            <a:pPr algn="just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102179"/>
            <a:ext cx="18288000" cy="2204357"/>
            <a:chOff x="0" y="0"/>
            <a:chExt cx="3687704" cy="444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87704" cy="444500"/>
            </a:xfrm>
            <a:custGeom>
              <a:avLst/>
              <a:gdLst/>
              <a:ahLst/>
              <a:cxnLst/>
              <a:rect l="l" t="t" r="r" b="b"/>
              <a:pathLst>
                <a:path w="3687704" h="444500">
                  <a:moveTo>
                    <a:pt x="3679601" y="0"/>
                  </a:moveTo>
                  <a:lnTo>
                    <a:pt x="8103" y="0"/>
                  </a:lnTo>
                  <a:cubicBezTo>
                    <a:pt x="5954" y="0"/>
                    <a:pt x="3893" y="854"/>
                    <a:pt x="2373" y="2373"/>
                  </a:cubicBezTo>
                  <a:cubicBezTo>
                    <a:pt x="854" y="3893"/>
                    <a:pt x="0" y="5954"/>
                    <a:pt x="0" y="8103"/>
                  </a:cubicBezTo>
                  <a:lnTo>
                    <a:pt x="0" y="398743"/>
                  </a:lnTo>
                  <a:cubicBezTo>
                    <a:pt x="196154" y="433272"/>
                    <a:pt x="823848" y="481613"/>
                    <a:pt x="1765386" y="398743"/>
                  </a:cubicBezTo>
                  <a:cubicBezTo>
                    <a:pt x="2706933" y="315872"/>
                    <a:pt x="3439243" y="364213"/>
                    <a:pt x="3687704" y="398743"/>
                  </a:cubicBezTo>
                  <a:lnTo>
                    <a:pt x="3687704" y="8103"/>
                  </a:lnTo>
                  <a:cubicBezTo>
                    <a:pt x="3687704" y="5954"/>
                    <a:pt x="3686850" y="3893"/>
                    <a:pt x="3685330" y="2373"/>
                  </a:cubicBezTo>
                  <a:cubicBezTo>
                    <a:pt x="3683811" y="854"/>
                    <a:pt x="3681750" y="0"/>
                    <a:pt x="3679601" y="0"/>
                  </a:cubicBezTo>
                  <a:close/>
                </a:path>
              </a:pathLst>
            </a:custGeom>
            <a:solidFill>
              <a:srgbClr val="7B76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687704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917766" y="338767"/>
            <a:ext cx="10370234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Интерактивная карта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1658026"/>
            <a:ext cx="16526827" cy="2949896"/>
            <a:chOff x="0" y="0"/>
            <a:chExt cx="3400582" cy="6069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00582" cy="606974"/>
            </a:xfrm>
            <a:custGeom>
              <a:avLst/>
              <a:gdLst/>
              <a:ahLst/>
              <a:cxnLst/>
              <a:rect l="l" t="t" r="r" b="b"/>
              <a:pathLst>
                <a:path w="3400582" h="606974">
                  <a:moveTo>
                    <a:pt x="24154" y="0"/>
                  </a:moveTo>
                  <a:lnTo>
                    <a:pt x="3376428" y="0"/>
                  </a:lnTo>
                  <a:cubicBezTo>
                    <a:pt x="3382834" y="0"/>
                    <a:pt x="3388978" y="2545"/>
                    <a:pt x="3393507" y="7075"/>
                  </a:cubicBezTo>
                  <a:cubicBezTo>
                    <a:pt x="3398037" y="11604"/>
                    <a:pt x="3400582" y="17748"/>
                    <a:pt x="3400582" y="24154"/>
                  </a:cubicBezTo>
                  <a:lnTo>
                    <a:pt x="3400582" y="582820"/>
                  </a:lnTo>
                  <a:cubicBezTo>
                    <a:pt x="3400582" y="596160"/>
                    <a:pt x="3389768" y="606974"/>
                    <a:pt x="3376428" y="606974"/>
                  </a:cubicBezTo>
                  <a:lnTo>
                    <a:pt x="24154" y="606974"/>
                  </a:lnTo>
                  <a:cubicBezTo>
                    <a:pt x="17748" y="606974"/>
                    <a:pt x="11604" y="604430"/>
                    <a:pt x="7075" y="599900"/>
                  </a:cubicBezTo>
                  <a:cubicBezTo>
                    <a:pt x="2545" y="595370"/>
                    <a:pt x="0" y="589226"/>
                    <a:pt x="0" y="582820"/>
                  </a:cubicBezTo>
                  <a:lnTo>
                    <a:pt x="0" y="24154"/>
                  </a:lnTo>
                  <a:cubicBezTo>
                    <a:pt x="0" y="10814"/>
                    <a:pt x="10814" y="0"/>
                    <a:pt x="24154" y="0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400582" cy="645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972134" y="1658026"/>
            <a:ext cx="5583393" cy="7893650"/>
            <a:chOff x="0" y="0"/>
            <a:chExt cx="1148846" cy="16242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8846" cy="1624208"/>
            </a:xfrm>
            <a:custGeom>
              <a:avLst/>
              <a:gdLst/>
              <a:ahLst/>
              <a:cxnLst/>
              <a:rect l="l" t="t" r="r" b="b"/>
              <a:pathLst>
                <a:path w="1148846" h="1624208">
                  <a:moveTo>
                    <a:pt x="71496" y="0"/>
                  </a:moveTo>
                  <a:lnTo>
                    <a:pt x="1077350" y="0"/>
                  </a:lnTo>
                  <a:cubicBezTo>
                    <a:pt x="1096312" y="0"/>
                    <a:pt x="1114497" y="7533"/>
                    <a:pt x="1127906" y="20941"/>
                  </a:cubicBezTo>
                  <a:cubicBezTo>
                    <a:pt x="1141314" y="34349"/>
                    <a:pt x="1148846" y="52534"/>
                    <a:pt x="1148846" y="71496"/>
                  </a:cubicBezTo>
                  <a:lnTo>
                    <a:pt x="1148846" y="1552711"/>
                  </a:lnTo>
                  <a:cubicBezTo>
                    <a:pt x="1148846" y="1592198"/>
                    <a:pt x="1116836" y="1624208"/>
                    <a:pt x="1077350" y="1624208"/>
                  </a:cubicBezTo>
                  <a:lnTo>
                    <a:pt x="71496" y="1624208"/>
                  </a:lnTo>
                  <a:cubicBezTo>
                    <a:pt x="52534" y="1624208"/>
                    <a:pt x="34349" y="1616675"/>
                    <a:pt x="20941" y="1603267"/>
                  </a:cubicBezTo>
                  <a:cubicBezTo>
                    <a:pt x="7533" y="1589859"/>
                    <a:pt x="0" y="1571673"/>
                    <a:pt x="0" y="1552711"/>
                  </a:cubicBezTo>
                  <a:lnTo>
                    <a:pt x="0" y="71496"/>
                  </a:lnTo>
                  <a:cubicBezTo>
                    <a:pt x="0" y="52534"/>
                    <a:pt x="7533" y="34349"/>
                    <a:pt x="20941" y="20941"/>
                  </a:cubicBezTo>
                  <a:cubicBezTo>
                    <a:pt x="34349" y="7533"/>
                    <a:pt x="52534" y="0"/>
                    <a:pt x="71496" y="0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8846" cy="1662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45868" y="4314546"/>
            <a:ext cx="10746248" cy="4943754"/>
            <a:chOff x="0" y="0"/>
            <a:chExt cx="946995" cy="4356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6995" cy="435660"/>
            </a:xfrm>
            <a:custGeom>
              <a:avLst/>
              <a:gdLst/>
              <a:ahLst/>
              <a:cxnLst/>
              <a:rect l="l" t="t" r="r" b="b"/>
              <a:pathLst>
                <a:path w="946995" h="435660">
                  <a:moveTo>
                    <a:pt x="14409" y="0"/>
                  </a:moveTo>
                  <a:lnTo>
                    <a:pt x="932586" y="0"/>
                  </a:lnTo>
                  <a:cubicBezTo>
                    <a:pt x="936407" y="0"/>
                    <a:pt x="940072" y="1518"/>
                    <a:pt x="942774" y="4220"/>
                  </a:cubicBezTo>
                  <a:cubicBezTo>
                    <a:pt x="945477" y="6922"/>
                    <a:pt x="946995" y="10587"/>
                    <a:pt x="946995" y="14409"/>
                  </a:cubicBezTo>
                  <a:lnTo>
                    <a:pt x="946995" y="421251"/>
                  </a:lnTo>
                  <a:cubicBezTo>
                    <a:pt x="946995" y="425073"/>
                    <a:pt x="945477" y="428737"/>
                    <a:pt x="942774" y="431440"/>
                  </a:cubicBezTo>
                  <a:cubicBezTo>
                    <a:pt x="940072" y="434142"/>
                    <a:pt x="936407" y="435660"/>
                    <a:pt x="932586" y="435660"/>
                  </a:cubicBezTo>
                  <a:lnTo>
                    <a:pt x="14409" y="435660"/>
                  </a:lnTo>
                  <a:cubicBezTo>
                    <a:pt x="10587" y="435660"/>
                    <a:pt x="6922" y="434142"/>
                    <a:pt x="4220" y="431440"/>
                  </a:cubicBezTo>
                  <a:cubicBezTo>
                    <a:pt x="1518" y="428737"/>
                    <a:pt x="0" y="425073"/>
                    <a:pt x="0" y="421251"/>
                  </a:cubicBezTo>
                  <a:lnTo>
                    <a:pt x="0" y="14409"/>
                  </a:lnTo>
                  <a:cubicBezTo>
                    <a:pt x="0" y="10587"/>
                    <a:pt x="1518" y="6922"/>
                    <a:pt x="4220" y="4220"/>
                  </a:cubicBezTo>
                  <a:cubicBezTo>
                    <a:pt x="6922" y="1518"/>
                    <a:pt x="10587" y="0"/>
                    <a:pt x="14409" y="0"/>
                  </a:cubicBezTo>
                  <a:close/>
                </a:path>
              </a:pathLst>
            </a:custGeom>
            <a:blipFill>
              <a:blip r:embed="rId2"/>
              <a:stretch>
                <a:fillRect l="-1302" t="-1084" r="-1580" b="-1788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618360" y="2296386"/>
            <a:ext cx="15347507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Раздел с интерактивной картой реализует привязку легенд к конкретным географическим точкам Гродно. Пользователь может увидеть все места, связанные с мифами, и быстро перейти к интересующей истории. Карта интегрирована с каталогом.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90655" y="4266921"/>
            <a:ext cx="4568645" cy="474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В дальнейшем планируется расширение функционала карты: добавление возможности построения тематических маршрутов, , отображение дополнительной информации непосредственно на карте.</a:t>
            </a:r>
          </a:p>
          <a:p>
            <a:pPr algn="just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685635" y="453820"/>
            <a:ext cx="4721884" cy="986451"/>
            <a:chOff x="0" y="0"/>
            <a:chExt cx="6295845" cy="13152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15268" cy="1315268"/>
            </a:xfrm>
            <a:custGeom>
              <a:avLst/>
              <a:gdLst/>
              <a:ahLst/>
              <a:cxnLst/>
              <a:rect l="l" t="t" r="r" b="b"/>
              <a:pathLst>
                <a:path w="1315268" h="1315268">
                  <a:moveTo>
                    <a:pt x="0" y="0"/>
                  </a:moveTo>
                  <a:lnTo>
                    <a:pt x="1315268" y="0"/>
                  </a:lnTo>
                  <a:lnTo>
                    <a:pt x="1315268" y="1315268"/>
                  </a:lnTo>
                  <a:lnTo>
                    <a:pt x="0" y="1315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8" name="AutoShape 18"/>
            <p:cNvSpPr/>
            <p:nvPr/>
          </p:nvSpPr>
          <p:spPr>
            <a:xfrm flipV="1">
              <a:off x="1436172" y="0"/>
              <a:ext cx="0" cy="1315268"/>
            </a:xfrm>
            <a:prstGeom prst="line">
              <a:avLst/>
            </a:prstGeom>
            <a:ln w="43724" cap="flat">
              <a:solidFill>
                <a:srgbClr val="8B6BC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73588" y="276501"/>
              <a:ext cx="4722258" cy="381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893" spc="-104">
                  <a:solidFill>
                    <a:srgbClr val="BDA0F6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Тайны и мифы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73588" y="777563"/>
              <a:ext cx="4722258" cy="38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893" spc="-104">
                  <a:solidFill>
                    <a:srgbClr val="A4A4A4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Королевского города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3" y="2421591"/>
            <a:ext cx="6439152" cy="492908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227" y="3642954"/>
            <a:ext cx="3817073" cy="592355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84" y="6625776"/>
            <a:ext cx="4467788" cy="341794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594909" y="381577"/>
            <a:ext cx="4721884" cy="986451"/>
            <a:chOff x="0" y="0"/>
            <a:chExt cx="6295845" cy="13152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5268" cy="1315268"/>
            </a:xfrm>
            <a:custGeom>
              <a:avLst/>
              <a:gdLst/>
              <a:ahLst/>
              <a:cxnLst/>
              <a:rect l="l" t="t" r="r" b="b"/>
              <a:pathLst>
                <a:path w="1315268" h="1315268">
                  <a:moveTo>
                    <a:pt x="0" y="0"/>
                  </a:moveTo>
                  <a:lnTo>
                    <a:pt x="1315268" y="0"/>
                  </a:lnTo>
                  <a:lnTo>
                    <a:pt x="1315268" y="1315268"/>
                  </a:lnTo>
                  <a:lnTo>
                    <a:pt x="0" y="1315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AutoShape 7"/>
            <p:cNvSpPr/>
            <p:nvPr/>
          </p:nvSpPr>
          <p:spPr>
            <a:xfrm flipV="1">
              <a:off x="1436172" y="0"/>
              <a:ext cx="0" cy="1315268"/>
            </a:xfrm>
            <a:prstGeom prst="line">
              <a:avLst/>
            </a:prstGeom>
            <a:ln w="43724" cap="flat">
              <a:solidFill>
                <a:srgbClr val="8B6BC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3588" y="276501"/>
              <a:ext cx="4722258" cy="38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893" spc="-104">
                  <a:solidFill>
                    <a:srgbClr val="C0A0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Тайны и мифы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73588" y="777563"/>
              <a:ext cx="4722258" cy="38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3"/>
                </a:lnSpc>
              </a:pPr>
              <a:r>
                <a:rPr lang="en-US" sz="1893" spc="-104">
                  <a:solidFill>
                    <a:srgbClr val="A4A4A4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Королевского города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070166" y="491167"/>
            <a:ext cx="10370234" cy="192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00"/>
              </a:lnSpc>
            </a:pPr>
            <a:r>
              <a:rPr lang="en-US" sz="6800" spc="-374">
                <a:solidFill>
                  <a:srgbClr val="C0A0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Образовательный раздел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46650" y="2999144"/>
            <a:ext cx="7978541" cy="6073736"/>
            <a:chOff x="0" y="0"/>
            <a:chExt cx="2033885" cy="15483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3885" cy="1548313"/>
            </a:xfrm>
            <a:custGeom>
              <a:avLst/>
              <a:gdLst/>
              <a:ahLst/>
              <a:cxnLst/>
              <a:rect l="l" t="t" r="r" b="b"/>
              <a:pathLst>
                <a:path w="2033885" h="1548313">
                  <a:moveTo>
                    <a:pt x="50033" y="0"/>
                  </a:moveTo>
                  <a:lnTo>
                    <a:pt x="1983851" y="0"/>
                  </a:lnTo>
                  <a:cubicBezTo>
                    <a:pt x="2011484" y="0"/>
                    <a:pt x="2033885" y="22401"/>
                    <a:pt x="2033885" y="50033"/>
                  </a:cubicBezTo>
                  <a:lnTo>
                    <a:pt x="2033885" y="1498280"/>
                  </a:lnTo>
                  <a:cubicBezTo>
                    <a:pt x="2033885" y="1525912"/>
                    <a:pt x="2011484" y="1548313"/>
                    <a:pt x="1983851" y="1548313"/>
                  </a:cubicBezTo>
                  <a:lnTo>
                    <a:pt x="50033" y="1548313"/>
                  </a:lnTo>
                  <a:cubicBezTo>
                    <a:pt x="22401" y="1548313"/>
                    <a:pt x="0" y="1525912"/>
                    <a:pt x="0" y="1498280"/>
                  </a:cubicBezTo>
                  <a:lnTo>
                    <a:pt x="0" y="50033"/>
                  </a:lnTo>
                  <a:cubicBezTo>
                    <a:pt x="0" y="22401"/>
                    <a:pt x="22401" y="0"/>
                    <a:pt x="50033" y="0"/>
                  </a:cubicBezTo>
                  <a:close/>
                </a:path>
              </a:pathLst>
            </a:custGeom>
            <a:solidFill>
              <a:srgbClr val="7B767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33885" cy="1586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64814" y="3184564"/>
            <a:ext cx="7978541" cy="6073736"/>
            <a:chOff x="0" y="0"/>
            <a:chExt cx="2033885" cy="15483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3885" cy="1548313"/>
            </a:xfrm>
            <a:custGeom>
              <a:avLst/>
              <a:gdLst/>
              <a:ahLst/>
              <a:cxnLst/>
              <a:rect l="l" t="t" r="r" b="b"/>
              <a:pathLst>
                <a:path w="2033885" h="1548313">
                  <a:moveTo>
                    <a:pt x="50033" y="0"/>
                  </a:moveTo>
                  <a:lnTo>
                    <a:pt x="1983851" y="0"/>
                  </a:lnTo>
                  <a:cubicBezTo>
                    <a:pt x="2011484" y="0"/>
                    <a:pt x="2033885" y="22401"/>
                    <a:pt x="2033885" y="50033"/>
                  </a:cubicBezTo>
                  <a:lnTo>
                    <a:pt x="2033885" y="1498280"/>
                  </a:lnTo>
                  <a:cubicBezTo>
                    <a:pt x="2033885" y="1525912"/>
                    <a:pt x="2011484" y="1548313"/>
                    <a:pt x="1983851" y="1548313"/>
                  </a:cubicBezTo>
                  <a:lnTo>
                    <a:pt x="50033" y="1548313"/>
                  </a:lnTo>
                  <a:cubicBezTo>
                    <a:pt x="22401" y="1548313"/>
                    <a:pt x="0" y="1525912"/>
                    <a:pt x="0" y="1498280"/>
                  </a:cubicBezTo>
                  <a:lnTo>
                    <a:pt x="0" y="50033"/>
                  </a:lnTo>
                  <a:cubicBezTo>
                    <a:pt x="0" y="22401"/>
                    <a:pt x="22401" y="0"/>
                    <a:pt x="50033" y="0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33885" cy="1586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305658" y="3588722"/>
            <a:ext cx="6896853" cy="521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Отдельный раздел приложения посвящен образовательным материалам. На данный момент в нем представлены 4  направления: кроссворды, презентации, ребусы и учебные пособия. Контент этого раздела ориентирован прежде всего на школьников и студентов, изучающих историю и краеведение.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     В настоящее время ведется активная разработка новых образовательных модулей.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81536">
            <a:off x="-970066" y="-1431443"/>
            <a:ext cx="6826024" cy="8039215"/>
          </a:xfrm>
          <a:custGeom>
            <a:avLst/>
            <a:gdLst/>
            <a:ahLst/>
            <a:cxnLst/>
            <a:rect l="l" t="t" r="r" b="b"/>
            <a:pathLst>
              <a:path w="6826024" h="8039215">
                <a:moveTo>
                  <a:pt x="0" y="0"/>
                </a:moveTo>
                <a:lnTo>
                  <a:pt x="6826024" y="0"/>
                </a:lnTo>
                <a:lnTo>
                  <a:pt x="6826024" y="8039215"/>
                </a:lnTo>
                <a:lnTo>
                  <a:pt x="0" y="8039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498026">
            <a:off x="12392775" y="2117962"/>
            <a:ext cx="6638694" cy="8993305"/>
          </a:xfrm>
          <a:custGeom>
            <a:avLst/>
            <a:gdLst/>
            <a:ahLst/>
            <a:cxnLst/>
            <a:rect l="l" t="t" r="r" b="b"/>
            <a:pathLst>
              <a:path w="6638694" h="8993305">
                <a:moveTo>
                  <a:pt x="0" y="0"/>
                </a:moveTo>
                <a:lnTo>
                  <a:pt x="6638694" y="0"/>
                </a:lnTo>
                <a:lnTo>
                  <a:pt x="6638694" y="8993305"/>
                </a:lnTo>
                <a:lnTo>
                  <a:pt x="0" y="8993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81881" y="9258300"/>
            <a:ext cx="1969006" cy="1355089"/>
          </a:xfrm>
          <a:custGeom>
            <a:avLst/>
            <a:gdLst/>
            <a:ahLst/>
            <a:cxnLst/>
            <a:rect l="l" t="t" r="r" b="b"/>
            <a:pathLst>
              <a:path w="1969006" h="1355089">
                <a:moveTo>
                  <a:pt x="0" y="0"/>
                </a:moveTo>
                <a:lnTo>
                  <a:pt x="1969006" y="0"/>
                </a:lnTo>
                <a:lnTo>
                  <a:pt x="1969006" y="1355089"/>
                </a:lnTo>
                <a:lnTo>
                  <a:pt x="0" y="1355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7255" r="-17320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1621" y="-830373"/>
            <a:ext cx="1969006" cy="1355089"/>
          </a:xfrm>
          <a:custGeom>
            <a:avLst/>
            <a:gdLst/>
            <a:ahLst/>
            <a:cxnLst/>
            <a:rect l="l" t="t" r="r" b="b"/>
            <a:pathLst>
              <a:path w="1969006" h="1355089">
                <a:moveTo>
                  <a:pt x="0" y="0"/>
                </a:moveTo>
                <a:lnTo>
                  <a:pt x="1969006" y="0"/>
                </a:lnTo>
                <a:lnTo>
                  <a:pt x="1969006" y="1355089"/>
                </a:lnTo>
                <a:lnTo>
                  <a:pt x="0" y="13550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17255" r="-17320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17005" y="6443057"/>
            <a:ext cx="2584633" cy="2312071"/>
          </a:xfrm>
          <a:custGeom>
            <a:avLst/>
            <a:gdLst/>
            <a:ahLst/>
            <a:cxnLst/>
            <a:rect l="l" t="t" r="r" b="b"/>
            <a:pathLst>
              <a:path w="2584633" h="2312071">
                <a:moveTo>
                  <a:pt x="0" y="0"/>
                </a:moveTo>
                <a:lnTo>
                  <a:pt x="2584632" y="0"/>
                </a:lnTo>
                <a:lnTo>
                  <a:pt x="2584632" y="2312071"/>
                </a:lnTo>
                <a:lnTo>
                  <a:pt x="0" y="2312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2751" y="2167795"/>
            <a:ext cx="2587327" cy="3420745"/>
          </a:xfrm>
          <a:custGeom>
            <a:avLst/>
            <a:gdLst/>
            <a:ahLst/>
            <a:cxnLst/>
            <a:rect l="l" t="t" r="r" b="b"/>
            <a:pathLst>
              <a:path w="2587327" h="3420745">
                <a:moveTo>
                  <a:pt x="0" y="0"/>
                </a:moveTo>
                <a:lnTo>
                  <a:pt x="2587327" y="0"/>
                </a:lnTo>
                <a:lnTo>
                  <a:pt x="2587327" y="3420745"/>
                </a:lnTo>
                <a:lnTo>
                  <a:pt x="0" y="34207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83227" y="2378615"/>
            <a:ext cx="2110148" cy="3070320"/>
          </a:xfrm>
          <a:custGeom>
            <a:avLst/>
            <a:gdLst/>
            <a:ahLst/>
            <a:cxnLst/>
            <a:rect l="l" t="t" r="r" b="b"/>
            <a:pathLst>
              <a:path w="2110148" h="3070320">
                <a:moveTo>
                  <a:pt x="0" y="0"/>
                </a:moveTo>
                <a:lnTo>
                  <a:pt x="2110148" y="0"/>
                </a:lnTo>
                <a:lnTo>
                  <a:pt x="2110148" y="3070320"/>
                </a:lnTo>
                <a:lnTo>
                  <a:pt x="0" y="30703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03150" y="2622060"/>
            <a:ext cx="2700720" cy="2826875"/>
          </a:xfrm>
          <a:custGeom>
            <a:avLst/>
            <a:gdLst/>
            <a:ahLst/>
            <a:cxnLst/>
            <a:rect l="l" t="t" r="r" b="b"/>
            <a:pathLst>
              <a:path w="2700720" h="2826875">
                <a:moveTo>
                  <a:pt x="0" y="0"/>
                </a:moveTo>
                <a:lnTo>
                  <a:pt x="2700720" y="0"/>
                </a:lnTo>
                <a:lnTo>
                  <a:pt x="2700720" y="2826875"/>
                </a:lnTo>
                <a:lnTo>
                  <a:pt x="0" y="2826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b="-33026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146838" y="2622060"/>
            <a:ext cx="3130568" cy="2857355"/>
          </a:xfrm>
          <a:custGeom>
            <a:avLst/>
            <a:gdLst/>
            <a:ahLst/>
            <a:cxnLst/>
            <a:rect l="l" t="t" r="r" b="b"/>
            <a:pathLst>
              <a:path w="3130568" h="2857355">
                <a:moveTo>
                  <a:pt x="0" y="0"/>
                </a:moveTo>
                <a:lnTo>
                  <a:pt x="3130568" y="0"/>
                </a:lnTo>
                <a:lnTo>
                  <a:pt x="3130568" y="2857355"/>
                </a:lnTo>
                <a:lnTo>
                  <a:pt x="0" y="285735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950962" y="990600"/>
            <a:ext cx="12386075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D9D9D9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Стратегия развития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5190" y="5431790"/>
            <a:ext cx="40624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51416"/>
                </a:solidFill>
                <a:latin typeface="TT Firs Neue"/>
                <a:ea typeface="TT Firs Neue"/>
                <a:cs typeface="TT Firs Neue"/>
                <a:sym typeface="TT Firs Neue"/>
              </a:rPr>
              <a:t>Расширение контента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07076" y="5401310"/>
            <a:ext cx="406245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51416"/>
                </a:solidFill>
                <a:latin typeface="TT Firs Neue"/>
                <a:ea typeface="TT Firs Neue"/>
                <a:cs typeface="TT Firs Neue"/>
                <a:sym typeface="TT Firs Neue"/>
              </a:rPr>
              <a:t>Углубление мультимедийности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85347" y="5401310"/>
            <a:ext cx="40624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51416"/>
                </a:solidFill>
                <a:latin typeface="TT Firs Neue"/>
                <a:ea typeface="TT Firs Neue"/>
                <a:cs typeface="TT Firs Neue"/>
                <a:sym typeface="TT Firs Neue"/>
              </a:rPr>
              <a:t>Технологическое развитие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80897" y="5401310"/>
            <a:ext cx="40624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51416"/>
                </a:solidFill>
                <a:latin typeface="TT Firs Neue"/>
                <a:ea typeface="TT Firs Neue"/>
                <a:cs typeface="TT Firs Neue"/>
                <a:sym typeface="TT Firs Neue"/>
              </a:rPr>
              <a:t>Партнерские проекты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78096" y="8926578"/>
            <a:ext cx="40624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51416"/>
                </a:solidFill>
                <a:latin typeface="TT Firs Neue"/>
                <a:ea typeface="TT Firs Neue"/>
                <a:cs typeface="TT Firs Neue"/>
                <a:sym typeface="TT Firs Neue"/>
              </a:rPr>
              <a:t>Создание экосистемы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0520" y="621086"/>
            <a:ext cx="10083286" cy="10463787"/>
          </a:xfrm>
          <a:custGeom>
            <a:avLst/>
            <a:gdLst/>
            <a:ahLst/>
            <a:cxnLst/>
            <a:rect l="l" t="t" r="r" b="b"/>
            <a:pathLst>
              <a:path w="10083286" h="10463787">
                <a:moveTo>
                  <a:pt x="0" y="0"/>
                </a:moveTo>
                <a:lnTo>
                  <a:pt x="10083286" y="0"/>
                </a:lnTo>
                <a:lnTo>
                  <a:pt x="10083286" y="10463787"/>
                </a:lnTo>
                <a:lnTo>
                  <a:pt x="0" y="10463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93004" y="3578410"/>
            <a:ext cx="501992" cy="501992"/>
          </a:xfrm>
          <a:custGeom>
            <a:avLst/>
            <a:gdLst/>
            <a:ahLst/>
            <a:cxnLst/>
            <a:rect l="l" t="t" r="r" b="b"/>
            <a:pathLst>
              <a:path w="501992" h="501992">
                <a:moveTo>
                  <a:pt x="0" y="0"/>
                </a:moveTo>
                <a:lnTo>
                  <a:pt x="501992" y="0"/>
                </a:lnTo>
                <a:lnTo>
                  <a:pt x="501992" y="501991"/>
                </a:lnTo>
                <a:lnTo>
                  <a:pt x="0" y="501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361255" y="1529836"/>
            <a:ext cx="6278221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BFBFB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Заключение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41431" y="3530785"/>
            <a:ext cx="7517869" cy="45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C0A0FF"/>
                </a:solidFill>
                <a:latin typeface="TT Firs Neue"/>
                <a:ea typeface="TT Firs Neue"/>
                <a:cs typeface="TT Firs Neue"/>
                <a:sym typeface="TT Firs Neue"/>
              </a:rPr>
              <a:t>В ходе проекта был разработан современный цифровой продукт, представляющий легендарное наследие города в интерактивном формате. Созданное приложение позволяет познакомиться с мифами и преданиями Гродно с помощью карты и мультимедийного контента. Проект открывает новые возможности для популяризации краеведения среди молодёжи и гостей города. Дальнейшее развитие проекта будет способствовать укреплению туристического бренда Королевского города.</a:t>
            </a:r>
          </a:p>
        </p:txBody>
      </p:sp>
      <p:sp>
        <p:nvSpPr>
          <p:cNvPr id="6" name="Freeform 6"/>
          <p:cNvSpPr/>
          <p:nvPr/>
        </p:nvSpPr>
        <p:spPr>
          <a:xfrm rot="1124152">
            <a:off x="8342000" y="-326389"/>
            <a:ext cx="1969006" cy="1355089"/>
          </a:xfrm>
          <a:custGeom>
            <a:avLst/>
            <a:gdLst/>
            <a:ahLst/>
            <a:cxnLst/>
            <a:rect l="l" t="t" r="r" b="b"/>
            <a:pathLst>
              <a:path w="1969006" h="1355089">
                <a:moveTo>
                  <a:pt x="0" y="0"/>
                </a:moveTo>
                <a:lnTo>
                  <a:pt x="1969006" y="0"/>
                </a:lnTo>
                <a:lnTo>
                  <a:pt x="1969006" y="1355089"/>
                </a:lnTo>
                <a:lnTo>
                  <a:pt x="0" y="13550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7255" r="-173204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12173">
            <a:off x="7045959" y="-1644619"/>
            <a:ext cx="14656926" cy="14390437"/>
          </a:xfrm>
          <a:custGeom>
            <a:avLst/>
            <a:gdLst/>
            <a:ahLst/>
            <a:cxnLst/>
            <a:rect l="l" t="t" r="r" b="b"/>
            <a:pathLst>
              <a:path w="14656926" h="14390437">
                <a:moveTo>
                  <a:pt x="0" y="0"/>
                </a:moveTo>
                <a:lnTo>
                  <a:pt x="14656927" y="0"/>
                </a:lnTo>
                <a:lnTo>
                  <a:pt x="14656927" y="14390437"/>
                </a:lnTo>
                <a:lnTo>
                  <a:pt x="0" y="1439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34372" y="8267637"/>
            <a:ext cx="5173565" cy="990663"/>
          </a:xfrm>
          <a:custGeom>
            <a:avLst/>
            <a:gdLst/>
            <a:ahLst/>
            <a:cxnLst/>
            <a:rect l="l" t="t" r="r" b="b"/>
            <a:pathLst>
              <a:path w="5173565" h="990663">
                <a:moveTo>
                  <a:pt x="0" y="0"/>
                </a:moveTo>
                <a:lnTo>
                  <a:pt x="5173565" y="0"/>
                </a:lnTo>
                <a:lnTo>
                  <a:pt x="5173565" y="990663"/>
                </a:lnTo>
                <a:lnTo>
                  <a:pt x="0" y="9906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t="-349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99384" y="4517630"/>
            <a:ext cx="7650943" cy="22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6"/>
              </a:lnSpc>
            </a:pPr>
            <a:r>
              <a:rPr lang="en-US" sz="8586" b="1" spc="-214">
                <a:solidFill>
                  <a:srgbClr val="C0A0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СПАСИБО ЗА ВНИМАНИЕ!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2335944">
            <a:off x="8227213" y="402228"/>
            <a:ext cx="10822808" cy="8280951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3437251" y="2025859"/>
            <a:ext cx="1602230" cy="1602230"/>
          </a:xfrm>
          <a:custGeom>
            <a:avLst/>
            <a:gdLst/>
            <a:ahLst/>
            <a:cxnLst/>
            <a:rect l="l" t="t" r="r" b="b"/>
            <a:pathLst>
              <a:path w="1602230" h="1602230">
                <a:moveTo>
                  <a:pt x="0" y="0"/>
                </a:moveTo>
                <a:lnTo>
                  <a:pt x="1602230" y="0"/>
                </a:lnTo>
                <a:lnTo>
                  <a:pt x="1602230" y="1602230"/>
                </a:lnTo>
                <a:lnTo>
                  <a:pt x="0" y="160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617</Words>
  <Application>Microsoft Office PowerPoint</Application>
  <PresentationFormat>Произвольный</PresentationFormat>
  <Paragraphs>84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Aristotelica Pro</vt:lpstr>
      <vt:lpstr>TT Firs Neue</vt:lpstr>
      <vt:lpstr>Proxima Nova Bold</vt:lpstr>
      <vt:lpstr>Arial</vt:lpstr>
      <vt:lpstr>TT Firs Neue Bold</vt:lpstr>
      <vt:lpstr>Calibri</vt:lpstr>
      <vt:lpstr>Heading Now 71-78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Purple Modern Marketing Presentation</dc:title>
  <dc:creator>Пользователь</dc:creator>
  <cp:lastModifiedBy>Артём Ракович</cp:lastModifiedBy>
  <cp:revision>2</cp:revision>
  <dcterms:created xsi:type="dcterms:W3CDTF">2006-08-16T00:00:00Z</dcterms:created>
  <dcterms:modified xsi:type="dcterms:W3CDTF">2026-05-18T18:26:46Z</dcterms:modified>
  <dc:identifier>DAHGv33R0LU</dc:identifier>
</cp:coreProperties>
</file>